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74" r:id="rId6"/>
    <p:sldId id="275" r:id="rId7"/>
    <p:sldId id="277" r:id="rId8"/>
    <p:sldId id="260" r:id="rId9"/>
    <p:sldId id="261" r:id="rId10"/>
    <p:sldId id="262" r:id="rId11"/>
    <p:sldId id="263" r:id="rId12"/>
    <p:sldId id="264" r:id="rId13"/>
    <p:sldId id="265" r:id="rId14"/>
    <p:sldId id="266" r:id="rId15"/>
    <p:sldId id="267" r:id="rId16"/>
    <p:sldId id="269" r:id="rId17"/>
    <p:sldId id="268" r:id="rId18"/>
    <p:sldId id="270" r:id="rId19"/>
    <p:sldId id="271" r:id="rId20"/>
    <p:sldId id="272" r:id="rId21"/>
    <p:sldId id="273"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5A8EAA-F348-411A-8AB6-E4D2F51106CD}" v="7" dt="2025-12-04T19:45:17.3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120" d="100"/>
          <a:sy n="120" d="100"/>
        </p:scale>
        <p:origin x="10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deon Owusu" userId="8bdb2c19eee99b17" providerId="LiveId" clId="{5ED4F5BB-585B-4B7E-8F8A-901E96A22166}"/>
    <pc:docChg chg="undo custSel addSld modSld sldOrd">
      <pc:chgData name="Gideon Owusu" userId="8bdb2c19eee99b17" providerId="LiveId" clId="{5ED4F5BB-585B-4B7E-8F8A-901E96A22166}" dt="2025-12-05T02:49:31.989" v="2094" actId="20577"/>
      <pc:docMkLst>
        <pc:docMk/>
      </pc:docMkLst>
      <pc:sldChg chg="modSp mod">
        <pc:chgData name="Gideon Owusu" userId="8bdb2c19eee99b17" providerId="LiveId" clId="{5ED4F5BB-585B-4B7E-8F8A-901E96A22166}" dt="2025-12-05T02:49:31.989" v="2094" actId="20577"/>
        <pc:sldMkLst>
          <pc:docMk/>
          <pc:sldMk cId="1718750459" sldId="256"/>
        </pc:sldMkLst>
        <pc:spChg chg="mod">
          <ac:chgData name="Gideon Owusu" userId="8bdb2c19eee99b17" providerId="LiveId" clId="{5ED4F5BB-585B-4B7E-8F8A-901E96A22166}" dt="2025-12-05T02:49:31.989" v="2094" actId="20577"/>
          <ac:spMkLst>
            <pc:docMk/>
            <pc:sldMk cId="1718750459" sldId="256"/>
            <ac:spMk id="2" creationId="{73E5647D-FCBA-9C50-003A-DFC578D6045C}"/>
          </ac:spMkLst>
        </pc:spChg>
        <pc:spChg chg="mod">
          <ac:chgData name="Gideon Owusu" userId="8bdb2c19eee99b17" providerId="LiveId" clId="{5ED4F5BB-585B-4B7E-8F8A-901E96A22166}" dt="2025-12-05T02:39:50.653" v="2083" actId="20577"/>
          <ac:spMkLst>
            <pc:docMk/>
            <pc:sldMk cId="1718750459" sldId="256"/>
            <ac:spMk id="3" creationId="{6C7F8D71-23D8-1F39-0BAE-759494D3B3A8}"/>
          </ac:spMkLst>
        </pc:spChg>
        <pc:picChg chg="mod">
          <ac:chgData name="Gideon Owusu" userId="8bdb2c19eee99b17" providerId="LiveId" clId="{5ED4F5BB-585B-4B7E-8F8A-901E96A22166}" dt="2025-12-04T20:13:54.289" v="1941" actId="1076"/>
          <ac:picMkLst>
            <pc:docMk/>
            <pc:sldMk cId="1718750459" sldId="256"/>
            <ac:picMk id="13" creationId="{7C91F1E9-E640-2654-09D6-22468AB9B430}"/>
          </ac:picMkLst>
        </pc:picChg>
      </pc:sldChg>
      <pc:sldChg chg="addSp modSp mod setBg">
        <pc:chgData name="Gideon Owusu" userId="8bdb2c19eee99b17" providerId="LiveId" clId="{5ED4F5BB-585B-4B7E-8F8A-901E96A22166}" dt="2025-12-04T19:52:27.345" v="1872" actId="26606"/>
        <pc:sldMkLst>
          <pc:docMk/>
          <pc:sldMk cId="3602818340" sldId="258"/>
        </pc:sldMkLst>
        <pc:spChg chg="mod">
          <ac:chgData name="Gideon Owusu" userId="8bdb2c19eee99b17" providerId="LiveId" clId="{5ED4F5BB-585B-4B7E-8F8A-901E96A22166}" dt="2025-12-04T19:52:27.345" v="1872" actId="26606"/>
          <ac:spMkLst>
            <pc:docMk/>
            <pc:sldMk cId="3602818340" sldId="258"/>
            <ac:spMk id="2" creationId="{DF6DB7C3-4740-A8BF-7409-A738F355DE7D}"/>
          </ac:spMkLst>
        </pc:spChg>
        <pc:spChg chg="mod">
          <ac:chgData name="Gideon Owusu" userId="8bdb2c19eee99b17" providerId="LiveId" clId="{5ED4F5BB-585B-4B7E-8F8A-901E96A22166}" dt="2025-12-04T19:52:27.345" v="1872" actId="26606"/>
          <ac:spMkLst>
            <pc:docMk/>
            <pc:sldMk cId="3602818340" sldId="258"/>
            <ac:spMk id="3" creationId="{006FAC36-365C-71F0-B8DF-5375955AC05E}"/>
          </ac:spMkLst>
        </pc:spChg>
        <pc:spChg chg="add">
          <ac:chgData name="Gideon Owusu" userId="8bdb2c19eee99b17" providerId="LiveId" clId="{5ED4F5BB-585B-4B7E-8F8A-901E96A22166}" dt="2025-12-04T19:52:27.345" v="1872" actId="26606"/>
          <ac:spMkLst>
            <pc:docMk/>
            <pc:sldMk cId="3602818340" sldId="258"/>
            <ac:spMk id="10" creationId="{9EE42DCE-4A4F-44C4-84E5-261B3BEEF1DA}"/>
          </ac:spMkLst>
        </pc:spChg>
        <pc:spChg chg="add">
          <ac:chgData name="Gideon Owusu" userId="8bdb2c19eee99b17" providerId="LiveId" clId="{5ED4F5BB-585B-4B7E-8F8A-901E96A22166}" dt="2025-12-04T19:52:27.345" v="1872" actId="26606"/>
          <ac:spMkLst>
            <pc:docMk/>
            <pc:sldMk cId="3602818340" sldId="258"/>
            <ac:spMk id="12" creationId="{887F59F2-5FBC-40CD-AD35-376AECE49EA6}"/>
          </ac:spMkLst>
        </pc:spChg>
        <pc:picChg chg="add">
          <ac:chgData name="Gideon Owusu" userId="8bdb2c19eee99b17" providerId="LiveId" clId="{5ED4F5BB-585B-4B7E-8F8A-901E96A22166}" dt="2025-12-04T19:52:27.345" v="1872" actId="26606"/>
          <ac:picMkLst>
            <pc:docMk/>
            <pc:sldMk cId="3602818340" sldId="258"/>
            <ac:picMk id="7" creationId="{0C2403F6-8E1E-BE6A-B616-376878A9EF17}"/>
          </ac:picMkLst>
        </pc:picChg>
      </pc:sldChg>
      <pc:sldChg chg="addSp delSp modSp mod setBg">
        <pc:chgData name="Gideon Owusu" userId="8bdb2c19eee99b17" providerId="LiveId" clId="{5ED4F5BB-585B-4B7E-8F8A-901E96A22166}" dt="2025-12-04T20:02:24.596" v="1879" actId="26606"/>
        <pc:sldMkLst>
          <pc:docMk/>
          <pc:sldMk cId="3663576259" sldId="261"/>
        </pc:sldMkLst>
        <pc:spChg chg="mod">
          <ac:chgData name="Gideon Owusu" userId="8bdb2c19eee99b17" providerId="LiveId" clId="{5ED4F5BB-585B-4B7E-8F8A-901E96A22166}" dt="2025-12-04T20:02:24.596" v="1879" actId="26606"/>
          <ac:spMkLst>
            <pc:docMk/>
            <pc:sldMk cId="3663576259" sldId="261"/>
            <ac:spMk id="2" creationId="{772D4004-9E07-62D5-353E-F97DEFC3EF50}"/>
          </ac:spMkLst>
        </pc:spChg>
        <pc:spChg chg="del">
          <ac:chgData name="Gideon Owusu" userId="8bdb2c19eee99b17" providerId="LiveId" clId="{5ED4F5BB-585B-4B7E-8F8A-901E96A22166}" dt="2025-12-04T20:02:06.284" v="1875" actId="26606"/>
          <ac:spMkLst>
            <pc:docMk/>
            <pc:sldMk cId="3663576259" sldId="261"/>
            <ac:spMk id="3" creationId="{970B7937-28F8-49AA-4140-7A0753DE567C}"/>
          </ac:spMkLst>
        </pc:spChg>
        <pc:spChg chg="add">
          <ac:chgData name="Gideon Owusu" userId="8bdb2c19eee99b17" providerId="LiveId" clId="{5ED4F5BB-585B-4B7E-8F8A-901E96A22166}" dt="2025-12-04T20:02:24.596" v="1879" actId="26606"/>
          <ac:spMkLst>
            <pc:docMk/>
            <pc:sldMk cId="3663576259" sldId="261"/>
            <ac:spMk id="10" creationId="{FAA3B297-9683-4E38-89FA-062C53E13F85}"/>
          </ac:spMkLst>
        </pc:spChg>
        <pc:spChg chg="add">
          <ac:chgData name="Gideon Owusu" userId="8bdb2c19eee99b17" providerId="LiveId" clId="{5ED4F5BB-585B-4B7E-8F8A-901E96A22166}" dt="2025-12-04T20:02:24.596" v="1879" actId="26606"/>
          <ac:spMkLst>
            <pc:docMk/>
            <pc:sldMk cId="3663576259" sldId="261"/>
            <ac:spMk id="12" creationId="{4BF74692-AE31-4A00-B5F9-994E8D519F90}"/>
          </ac:spMkLst>
        </pc:spChg>
        <pc:graphicFrameChg chg="add mod modGraphic">
          <ac:chgData name="Gideon Owusu" userId="8bdb2c19eee99b17" providerId="LiveId" clId="{5ED4F5BB-585B-4B7E-8F8A-901E96A22166}" dt="2025-12-04T20:02:24.596" v="1879" actId="26606"/>
          <ac:graphicFrameMkLst>
            <pc:docMk/>
            <pc:sldMk cId="3663576259" sldId="261"/>
            <ac:graphicFrameMk id="5" creationId="{D7D5C055-2057-A0CA-B682-32272F551CFF}"/>
          </ac:graphicFrameMkLst>
        </pc:graphicFrameChg>
      </pc:sldChg>
      <pc:sldChg chg="modSp mod">
        <pc:chgData name="Gideon Owusu" userId="8bdb2c19eee99b17" providerId="LiveId" clId="{5ED4F5BB-585B-4B7E-8F8A-901E96A22166}" dt="2025-12-03T14:32:02.476" v="1728" actId="20577"/>
        <pc:sldMkLst>
          <pc:docMk/>
          <pc:sldMk cId="2932063908" sldId="273"/>
        </pc:sldMkLst>
        <pc:spChg chg="mod">
          <ac:chgData name="Gideon Owusu" userId="8bdb2c19eee99b17" providerId="LiveId" clId="{5ED4F5BB-585B-4B7E-8F8A-901E96A22166}" dt="2025-12-03T14:32:02.476" v="1728" actId="20577"/>
          <ac:spMkLst>
            <pc:docMk/>
            <pc:sldMk cId="2932063908" sldId="273"/>
            <ac:spMk id="3" creationId="{143BDCE0-447A-4987-5C72-F18286C1707D}"/>
          </ac:spMkLst>
        </pc:spChg>
      </pc:sldChg>
      <pc:sldChg chg="addSp delSp modSp mod">
        <pc:chgData name="Gideon Owusu" userId="8bdb2c19eee99b17" providerId="LiveId" clId="{5ED4F5BB-585B-4B7E-8F8A-901E96A22166}" dt="2025-12-04T19:53:06.763" v="1873" actId="26606"/>
        <pc:sldMkLst>
          <pc:docMk/>
          <pc:sldMk cId="2265194807" sldId="274"/>
        </pc:sldMkLst>
        <pc:spChg chg="del mod">
          <ac:chgData name="Gideon Owusu" userId="8bdb2c19eee99b17" providerId="LiveId" clId="{5ED4F5BB-585B-4B7E-8F8A-901E96A22166}" dt="2025-12-04T19:53:06.763" v="1873" actId="26606"/>
          <ac:spMkLst>
            <pc:docMk/>
            <pc:sldMk cId="2265194807" sldId="274"/>
            <ac:spMk id="3" creationId="{E6CBA3EF-525B-FD50-6F55-8A5CE3D467E3}"/>
          </ac:spMkLst>
        </pc:spChg>
        <pc:graphicFrameChg chg="add">
          <ac:chgData name="Gideon Owusu" userId="8bdb2c19eee99b17" providerId="LiveId" clId="{5ED4F5BB-585B-4B7E-8F8A-901E96A22166}" dt="2025-12-04T19:53:06.763" v="1873" actId="26606"/>
          <ac:graphicFrameMkLst>
            <pc:docMk/>
            <pc:sldMk cId="2265194807" sldId="274"/>
            <ac:graphicFrameMk id="5" creationId="{120F03EB-FAB5-A0B3-C725-D1E90BAB152F}"/>
          </ac:graphicFrameMkLst>
        </pc:graphicFrameChg>
      </pc:sldChg>
      <pc:sldChg chg="addSp delSp modSp new mod">
        <pc:chgData name="Gideon Owusu" userId="8bdb2c19eee99b17" providerId="LiveId" clId="{5ED4F5BB-585B-4B7E-8F8A-901E96A22166}" dt="2025-12-04T19:53:14.240" v="1874" actId="26606"/>
        <pc:sldMkLst>
          <pc:docMk/>
          <pc:sldMk cId="139955155" sldId="275"/>
        </pc:sldMkLst>
        <pc:spChg chg="mod">
          <ac:chgData name="Gideon Owusu" userId="8bdb2c19eee99b17" providerId="LiveId" clId="{5ED4F5BB-585B-4B7E-8F8A-901E96A22166}" dt="2025-12-03T14:19:06.507" v="741" actId="20577"/>
          <ac:spMkLst>
            <pc:docMk/>
            <pc:sldMk cId="139955155" sldId="275"/>
            <ac:spMk id="2" creationId="{0908FEE1-1F92-943F-B2CB-D28CF2983292}"/>
          </ac:spMkLst>
        </pc:spChg>
        <pc:spChg chg="del mod">
          <ac:chgData name="Gideon Owusu" userId="8bdb2c19eee99b17" providerId="LiveId" clId="{5ED4F5BB-585B-4B7E-8F8A-901E96A22166}" dt="2025-12-04T19:53:14.240" v="1874" actId="26606"/>
          <ac:spMkLst>
            <pc:docMk/>
            <pc:sldMk cId="139955155" sldId="275"/>
            <ac:spMk id="3" creationId="{88590C8F-32BE-CC79-1BFE-9642E1C56BAF}"/>
          </ac:spMkLst>
        </pc:spChg>
        <pc:graphicFrameChg chg="add">
          <ac:chgData name="Gideon Owusu" userId="8bdb2c19eee99b17" providerId="LiveId" clId="{5ED4F5BB-585B-4B7E-8F8A-901E96A22166}" dt="2025-12-04T19:53:14.240" v="1874" actId="26606"/>
          <ac:graphicFrameMkLst>
            <pc:docMk/>
            <pc:sldMk cId="139955155" sldId="275"/>
            <ac:graphicFrameMk id="5" creationId="{D08CCCB1-D921-A3C6-11B9-4FDFA6082B01}"/>
          </ac:graphicFrameMkLst>
        </pc:graphicFrameChg>
      </pc:sldChg>
      <pc:sldChg chg="modSp new mod">
        <pc:chgData name="Gideon Owusu" userId="8bdb2c19eee99b17" providerId="LiveId" clId="{5ED4F5BB-585B-4B7E-8F8A-901E96A22166}" dt="2025-12-03T14:32:29.342" v="1748" actId="20577"/>
        <pc:sldMkLst>
          <pc:docMk/>
          <pc:sldMk cId="1581302883" sldId="276"/>
        </pc:sldMkLst>
        <pc:spChg chg="mod">
          <ac:chgData name="Gideon Owusu" userId="8bdb2c19eee99b17" providerId="LiveId" clId="{5ED4F5BB-585B-4B7E-8F8A-901E96A22166}" dt="2025-12-03T14:32:29.342" v="1748" actId="20577"/>
          <ac:spMkLst>
            <pc:docMk/>
            <pc:sldMk cId="1581302883" sldId="276"/>
            <ac:spMk id="2" creationId="{8421654A-6C2A-D832-2B25-E2B6154866A2}"/>
          </ac:spMkLst>
        </pc:spChg>
        <pc:spChg chg="mod">
          <ac:chgData name="Gideon Owusu" userId="8bdb2c19eee99b17" providerId="LiveId" clId="{5ED4F5BB-585B-4B7E-8F8A-901E96A22166}" dt="2025-12-03T14:32:21.016" v="1747" actId="27636"/>
          <ac:spMkLst>
            <pc:docMk/>
            <pc:sldMk cId="1581302883" sldId="276"/>
            <ac:spMk id="3" creationId="{D439C9A1-A990-07BB-9A97-102D8A575321}"/>
          </ac:spMkLst>
        </pc:spChg>
      </pc:sldChg>
      <pc:sldChg chg="modSp new mod ord">
        <pc:chgData name="Gideon Owusu" userId="8bdb2c19eee99b17" providerId="LiveId" clId="{5ED4F5BB-585B-4B7E-8F8A-901E96A22166}" dt="2025-12-04T19:51:21.513" v="1871" actId="20577"/>
        <pc:sldMkLst>
          <pc:docMk/>
          <pc:sldMk cId="1279589346" sldId="277"/>
        </pc:sldMkLst>
        <pc:spChg chg="mod">
          <ac:chgData name="Gideon Owusu" userId="8bdb2c19eee99b17" providerId="LiveId" clId="{5ED4F5BB-585B-4B7E-8F8A-901E96A22166}" dt="2025-12-04T19:18:22.593" v="1778" actId="20577"/>
          <ac:spMkLst>
            <pc:docMk/>
            <pc:sldMk cId="1279589346" sldId="277"/>
            <ac:spMk id="2" creationId="{2CB32D9D-0331-CE2D-91C0-270659951ABF}"/>
          </ac:spMkLst>
        </pc:spChg>
        <pc:spChg chg="mod">
          <ac:chgData name="Gideon Owusu" userId="8bdb2c19eee99b17" providerId="LiveId" clId="{5ED4F5BB-585B-4B7E-8F8A-901E96A22166}" dt="2025-12-04T19:51:21.513" v="1871" actId="20577"/>
          <ac:spMkLst>
            <pc:docMk/>
            <pc:sldMk cId="1279589346" sldId="277"/>
            <ac:spMk id="3" creationId="{C211F149-DA77-0462-2071-1DB4F2B8BCD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sz="800" dirty="0"/>
              <a:t>Leading Causes of death in the us</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view3D>
      <c:rotX val="30"/>
      <c:rotY val="6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6223622047244094"/>
          <c:y val="0.1769515011547344"/>
          <c:w val="0.46441666666666664"/>
          <c:h val="0.77224018475750578"/>
        </c:manualLayout>
      </c:layout>
      <c:pie3DChart>
        <c:varyColors val="1"/>
        <c:ser>
          <c:idx val="0"/>
          <c:order val="0"/>
          <c:dPt>
            <c:idx val="0"/>
            <c:bubble3D val="0"/>
            <c:spPr>
              <a:solidFill>
                <a:schemeClr val="accent2">
                  <a:shade val="65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BEF7-4FF8-80F9-E974650FD3DD}"/>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BEF7-4FF8-80F9-E974650FD3DD}"/>
              </c:ext>
            </c:extLst>
          </c:dPt>
          <c:dPt>
            <c:idx val="2"/>
            <c:bubble3D val="0"/>
            <c:spPr>
              <a:solidFill>
                <a:schemeClr val="accent2">
                  <a:tint val="65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BEF7-4FF8-80F9-E974650FD3DD}"/>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hade val="65000"/>
                        </a:schemeClr>
                      </a:solidFill>
                      <a:latin typeface="+mn-lt"/>
                      <a:ea typeface="+mn-ea"/>
                      <a:cs typeface="+mn-cs"/>
                    </a:defRPr>
                  </a:pPr>
                  <a:endParaRPr lang="en-US"/>
                </a:p>
              </c:txPr>
              <c:dLblPos val="outEnd"/>
              <c:showLegendKey val="0"/>
              <c:showVal val="1"/>
              <c:showCatName val="1"/>
              <c:showSerName val="0"/>
              <c:showPercent val="1"/>
              <c:showBubbleSize val="0"/>
              <c:extLst>
                <c:ext xmlns:c16="http://schemas.microsoft.com/office/drawing/2014/chart" uri="{C3380CC4-5D6E-409C-BE32-E72D297353CC}">
                  <c16:uniqueId val="{00000001-BEF7-4FF8-80F9-E974650FD3DD}"/>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1"/>
              <c:showBubbleSize val="0"/>
              <c:extLst>
                <c:ext xmlns:c16="http://schemas.microsoft.com/office/drawing/2014/chart" uri="{C3380CC4-5D6E-409C-BE32-E72D297353CC}">
                  <c16:uniqueId val="{00000003-BEF7-4FF8-80F9-E974650FD3DD}"/>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tint val="65000"/>
                        </a:schemeClr>
                      </a:solidFill>
                      <a:latin typeface="+mn-lt"/>
                      <a:ea typeface="+mn-ea"/>
                      <a:cs typeface="+mn-cs"/>
                    </a:defRPr>
                  </a:pPr>
                  <a:endParaRPr lang="en-US"/>
                </a:p>
              </c:txPr>
              <c:dLblPos val="outEnd"/>
              <c:showLegendKey val="0"/>
              <c:showVal val="1"/>
              <c:showCatName val="1"/>
              <c:showSerName val="0"/>
              <c:showPercent val="1"/>
              <c:showBubbleSize val="0"/>
              <c:extLst>
                <c:ext xmlns:c16="http://schemas.microsoft.com/office/drawing/2014/chart" uri="{C3380CC4-5D6E-409C-BE32-E72D297353CC}">
                  <c16:uniqueId val="{00000005-BEF7-4FF8-80F9-E974650FD3DD}"/>
                </c:ext>
              </c:extLst>
            </c:dLbl>
            <c:spPr>
              <a:noFill/>
              <a:ln>
                <a:no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extLst>
          </c:dLbls>
          <c:cat>
            <c:strRef>
              <c:f>Sheet1!$A$1:$C$1</c:f>
              <c:strCache>
                <c:ptCount val="3"/>
                <c:pt idx="0">
                  <c:v>CVD</c:v>
                </c:pt>
                <c:pt idx="1">
                  <c:v>Cancer</c:v>
                </c:pt>
                <c:pt idx="2">
                  <c:v>Others</c:v>
                </c:pt>
              </c:strCache>
            </c:strRef>
          </c:cat>
          <c:val>
            <c:numRef>
              <c:f>Sheet1!$A$2:$C$2</c:f>
              <c:numCache>
                <c:formatCode>#,##0</c:formatCode>
                <c:ptCount val="3"/>
                <c:pt idx="0">
                  <c:v>843620</c:v>
                </c:pt>
                <c:pt idx="1">
                  <c:v>613352</c:v>
                </c:pt>
                <c:pt idx="2" formatCode="General">
                  <c:v>734686</c:v>
                </c:pt>
              </c:numCache>
            </c:numRef>
          </c:val>
          <c:extLst>
            <c:ext xmlns:c16="http://schemas.microsoft.com/office/drawing/2014/chart" uri="{C3380CC4-5D6E-409C-BE32-E72D297353CC}">
              <c16:uniqueId val="{00000006-BEF7-4FF8-80F9-E974650FD3DD}"/>
            </c:ext>
          </c:extLst>
        </c:ser>
        <c:dLbls>
          <c:dLblPos val="outEnd"/>
          <c:showLegendKey val="0"/>
          <c:showVal val="0"/>
          <c:showCatName val="1"/>
          <c:showSerName val="0"/>
          <c:showPercent val="0"/>
          <c:showBubbleSize val="0"/>
          <c:showLeaderLines val="0"/>
        </c:dLbls>
      </c:pie3D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Evaluation Metrics of Models</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1664260717410319E-2"/>
          <c:y val="0.31351217725691266"/>
          <c:w val="0.88389129483814521"/>
          <c:h val="0.60184471708478304"/>
        </c:manualLayout>
      </c:layout>
      <c:bar3DChart>
        <c:barDir val="col"/>
        <c:grouping val="clustered"/>
        <c:varyColors val="0"/>
        <c:ser>
          <c:idx val="0"/>
          <c:order val="0"/>
          <c:tx>
            <c:strRef>
              <c:f>Sheet1!$B$19</c:f>
              <c:strCache>
                <c:ptCount val="1"/>
                <c:pt idx="0">
                  <c:v>Accuracy </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Sheet1!$A$20:$A$23</c:f>
              <c:strCache>
                <c:ptCount val="4"/>
                <c:pt idx="0">
                  <c:v>LR</c:v>
                </c:pt>
                <c:pt idx="1">
                  <c:v>DT</c:v>
                </c:pt>
                <c:pt idx="2">
                  <c:v>RF</c:v>
                </c:pt>
                <c:pt idx="3">
                  <c:v>Xgboost</c:v>
                </c:pt>
              </c:strCache>
            </c:strRef>
          </c:cat>
          <c:val>
            <c:numRef>
              <c:f>Sheet1!$B$20:$B$23</c:f>
              <c:numCache>
                <c:formatCode>General</c:formatCode>
                <c:ptCount val="4"/>
                <c:pt idx="0">
                  <c:v>0.91900000000000004</c:v>
                </c:pt>
                <c:pt idx="1">
                  <c:v>1</c:v>
                </c:pt>
                <c:pt idx="2">
                  <c:v>1</c:v>
                </c:pt>
                <c:pt idx="3">
                  <c:v>0.99960000000000004</c:v>
                </c:pt>
              </c:numCache>
            </c:numRef>
          </c:val>
          <c:extLst>
            <c:ext xmlns:c16="http://schemas.microsoft.com/office/drawing/2014/chart" uri="{C3380CC4-5D6E-409C-BE32-E72D297353CC}">
              <c16:uniqueId val="{00000000-33BE-4F8C-B438-0403BA8E4096}"/>
            </c:ext>
          </c:extLst>
        </c:ser>
        <c:ser>
          <c:idx val="1"/>
          <c:order val="1"/>
          <c:tx>
            <c:strRef>
              <c:f>Sheet1!$C$19</c:f>
              <c:strCache>
                <c:ptCount val="1"/>
                <c:pt idx="0">
                  <c:v>Recall</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Sheet1!$A$20:$A$23</c:f>
              <c:strCache>
                <c:ptCount val="4"/>
                <c:pt idx="0">
                  <c:v>LR</c:v>
                </c:pt>
                <c:pt idx="1">
                  <c:v>DT</c:v>
                </c:pt>
                <c:pt idx="2">
                  <c:v>RF</c:v>
                </c:pt>
                <c:pt idx="3">
                  <c:v>Xgboost</c:v>
                </c:pt>
              </c:strCache>
            </c:strRef>
          </c:cat>
          <c:val>
            <c:numRef>
              <c:f>Sheet1!$C$20:$C$23</c:f>
              <c:numCache>
                <c:formatCode>General</c:formatCode>
                <c:ptCount val="4"/>
                <c:pt idx="0">
                  <c:v>0.92300000000000004</c:v>
                </c:pt>
                <c:pt idx="1">
                  <c:v>1</c:v>
                </c:pt>
                <c:pt idx="2">
                  <c:v>1</c:v>
                </c:pt>
                <c:pt idx="3">
                  <c:v>0.99939999999999996</c:v>
                </c:pt>
              </c:numCache>
            </c:numRef>
          </c:val>
          <c:extLst>
            <c:ext xmlns:c16="http://schemas.microsoft.com/office/drawing/2014/chart" uri="{C3380CC4-5D6E-409C-BE32-E72D297353CC}">
              <c16:uniqueId val="{00000001-33BE-4F8C-B438-0403BA8E4096}"/>
            </c:ext>
          </c:extLst>
        </c:ser>
        <c:ser>
          <c:idx val="2"/>
          <c:order val="2"/>
          <c:tx>
            <c:strRef>
              <c:f>Sheet1!$D$19</c:f>
              <c:strCache>
                <c:ptCount val="1"/>
                <c:pt idx="0">
                  <c:v>F1-score</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Sheet1!$A$20:$A$23</c:f>
              <c:strCache>
                <c:ptCount val="4"/>
                <c:pt idx="0">
                  <c:v>LR</c:v>
                </c:pt>
                <c:pt idx="1">
                  <c:v>DT</c:v>
                </c:pt>
                <c:pt idx="2">
                  <c:v>RF</c:v>
                </c:pt>
                <c:pt idx="3">
                  <c:v>Xgboost</c:v>
                </c:pt>
              </c:strCache>
            </c:strRef>
          </c:cat>
          <c:val>
            <c:numRef>
              <c:f>Sheet1!$D$20:$D$23</c:f>
              <c:numCache>
                <c:formatCode>General</c:formatCode>
                <c:ptCount val="4"/>
                <c:pt idx="0">
                  <c:v>0.9446</c:v>
                </c:pt>
                <c:pt idx="1">
                  <c:v>1</c:v>
                </c:pt>
                <c:pt idx="2">
                  <c:v>1</c:v>
                </c:pt>
                <c:pt idx="3">
                  <c:v>0.99970000000000003</c:v>
                </c:pt>
              </c:numCache>
            </c:numRef>
          </c:val>
          <c:extLst>
            <c:ext xmlns:c16="http://schemas.microsoft.com/office/drawing/2014/chart" uri="{C3380CC4-5D6E-409C-BE32-E72D297353CC}">
              <c16:uniqueId val="{00000002-33BE-4F8C-B438-0403BA8E4096}"/>
            </c:ext>
          </c:extLst>
        </c:ser>
        <c:ser>
          <c:idx val="3"/>
          <c:order val="3"/>
          <c:tx>
            <c:strRef>
              <c:f>Sheet1!$E$19</c:f>
              <c:strCache>
                <c:ptCount val="1"/>
                <c:pt idx="0">
                  <c:v>Specificity</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Sheet1!$A$20:$A$23</c:f>
              <c:strCache>
                <c:ptCount val="4"/>
                <c:pt idx="0">
                  <c:v>LR</c:v>
                </c:pt>
                <c:pt idx="1">
                  <c:v>DT</c:v>
                </c:pt>
                <c:pt idx="2">
                  <c:v>RF</c:v>
                </c:pt>
                <c:pt idx="3">
                  <c:v>Xgboost</c:v>
                </c:pt>
              </c:strCache>
            </c:strRef>
          </c:cat>
          <c:val>
            <c:numRef>
              <c:f>Sheet1!$E$20:$E$23</c:f>
              <c:numCache>
                <c:formatCode>General</c:formatCode>
                <c:ptCount val="4"/>
                <c:pt idx="0">
                  <c:v>0.9073</c:v>
                </c:pt>
                <c:pt idx="1">
                  <c:v>1</c:v>
                </c:pt>
                <c:pt idx="2">
                  <c:v>1</c:v>
                </c:pt>
                <c:pt idx="3">
                  <c:v>1</c:v>
                </c:pt>
              </c:numCache>
            </c:numRef>
          </c:val>
          <c:extLst>
            <c:ext xmlns:c16="http://schemas.microsoft.com/office/drawing/2014/chart" uri="{C3380CC4-5D6E-409C-BE32-E72D297353CC}">
              <c16:uniqueId val="{00000003-33BE-4F8C-B438-0403BA8E4096}"/>
            </c:ext>
          </c:extLst>
        </c:ser>
        <c:ser>
          <c:idx val="4"/>
          <c:order val="4"/>
          <c:tx>
            <c:strRef>
              <c:f>Sheet1!$F$19</c:f>
              <c:strCache>
                <c:ptCount val="1"/>
                <c:pt idx="0">
                  <c:v>Precision</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f>Sheet1!$A$20:$A$23</c:f>
              <c:strCache>
                <c:ptCount val="4"/>
                <c:pt idx="0">
                  <c:v>LR</c:v>
                </c:pt>
                <c:pt idx="1">
                  <c:v>DT</c:v>
                </c:pt>
                <c:pt idx="2">
                  <c:v>RF</c:v>
                </c:pt>
                <c:pt idx="3">
                  <c:v>Xgboost</c:v>
                </c:pt>
              </c:strCache>
            </c:strRef>
          </c:cat>
          <c:val>
            <c:numRef>
              <c:f>Sheet1!$F$20:$F$23</c:f>
              <c:numCache>
                <c:formatCode>General</c:formatCode>
                <c:ptCount val="4"/>
                <c:pt idx="0">
                  <c:v>0.96709999999999996</c:v>
                </c:pt>
                <c:pt idx="1">
                  <c:v>1</c:v>
                </c:pt>
                <c:pt idx="2">
                  <c:v>1</c:v>
                </c:pt>
                <c:pt idx="3">
                  <c:v>1</c:v>
                </c:pt>
              </c:numCache>
            </c:numRef>
          </c:val>
          <c:extLst>
            <c:ext xmlns:c16="http://schemas.microsoft.com/office/drawing/2014/chart" uri="{C3380CC4-5D6E-409C-BE32-E72D297353CC}">
              <c16:uniqueId val="{00000004-33BE-4F8C-B438-0403BA8E4096}"/>
            </c:ext>
          </c:extLst>
        </c:ser>
        <c:dLbls>
          <c:showLegendKey val="0"/>
          <c:showVal val="0"/>
          <c:showCatName val="0"/>
          <c:showSerName val="0"/>
          <c:showPercent val="0"/>
          <c:showBubbleSize val="0"/>
        </c:dLbls>
        <c:gapWidth val="150"/>
        <c:shape val="box"/>
        <c:axId val="1453311552"/>
        <c:axId val="1453312032"/>
        <c:axId val="0"/>
        <c:extLst>
          <c:ext xmlns:c15="http://schemas.microsoft.com/office/drawing/2012/chart" uri="{02D57815-91ED-43cb-92C2-25804820EDAC}">
            <c15:filteredBarSeries>
              <c15:ser>
                <c:idx val="5"/>
                <c:order val="5"/>
                <c:tx>
                  <c:strRef>
                    <c:extLst>
                      <c:ext uri="{02D57815-91ED-43cb-92C2-25804820EDAC}">
                        <c15:formulaRef>
                          <c15:sqref>Sheet1!$G$19</c15:sqref>
                        </c15:formulaRef>
                      </c:ext>
                    </c:extLst>
                    <c:strCache>
                      <c:ptCount val="1"/>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p3d/>
                </c:spPr>
                <c:invertIfNegative val="0"/>
                <c:cat>
                  <c:strRef>
                    <c:extLst>
                      <c:ext uri="{02D57815-91ED-43cb-92C2-25804820EDAC}">
                        <c15:formulaRef>
                          <c15:sqref>Sheet1!$A$20:$A$23</c15:sqref>
                        </c15:formulaRef>
                      </c:ext>
                    </c:extLst>
                    <c:strCache>
                      <c:ptCount val="4"/>
                      <c:pt idx="0">
                        <c:v>LR</c:v>
                      </c:pt>
                      <c:pt idx="1">
                        <c:v>DT</c:v>
                      </c:pt>
                      <c:pt idx="2">
                        <c:v>RF</c:v>
                      </c:pt>
                      <c:pt idx="3">
                        <c:v>Xgboost</c:v>
                      </c:pt>
                    </c:strCache>
                  </c:strRef>
                </c:cat>
                <c:val>
                  <c:numRef>
                    <c:extLst>
                      <c:ext uri="{02D57815-91ED-43cb-92C2-25804820EDAC}">
                        <c15:formulaRef>
                          <c15:sqref>Sheet1!$G$20:$G$23</c15:sqref>
                        </c15:formulaRef>
                      </c:ext>
                    </c:extLst>
                    <c:numCache>
                      <c:formatCode>General</c:formatCode>
                      <c:ptCount val="4"/>
                    </c:numCache>
                  </c:numRef>
                </c:val>
                <c:extLst>
                  <c:ext xmlns:c16="http://schemas.microsoft.com/office/drawing/2014/chart" uri="{C3380CC4-5D6E-409C-BE32-E72D297353CC}">
                    <c16:uniqueId val="{00000005-33BE-4F8C-B438-0403BA8E4096}"/>
                  </c:ext>
                </c:extLst>
              </c15:ser>
            </c15:filteredBarSeries>
          </c:ext>
        </c:extLst>
      </c:bar3DChart>
      <c:catAx>
        <c:axId val="14533115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53312032"/>
        <c:crosses val="autoZero"/>
        <c:auto val="1"/>
        <c:lblAlgn val="ctr"/>
        <c:lblOffset val="100"/>
        <c:noMultiLvlLbl val="0"/>
      </c:catAx>
      <c:valAx>
        <c:axId val="1453312032"/>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crossAx val="145331155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2ACD17-D18F-4ED6-BE57-963B60CF5AF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659561C-6BBF-47E9-B275-4BFE49A2B55E}">
      <dgm:prSet/>
      <dgm:spPr/>
      <dgm:t>
        <a:bodyPr/>
        <a:lstStyle/>
        <a:p>
          <a:pPr>
            <a:lnSpc>
              <a:spcPct val="100000"/>
            </a:lnSpc>
          </a:pPr>
          <a:r>
            <a:rPr lang="en-US"/>
            <a:t>A study conducted by Elvas et al. (2025) demonstrates significant progress in the application of ML and DL techniques for the classification, prediction, and diagnosis of Cardiovascular diseases. Models such as DLSE and Neural Networks were employed, achieving remarkable accuracy exceeding 95%. However, this study prioritizes accuracy-based metrics without addressing computational efficiency or real-world scalability.</a:t>
          </a:r>
        </a:p>
      </dgm:t>
    </dgm:pt>
    <dgm:pt modelId="{9C612640-7E9F-448F-A4DB-EBAB1A6F10AE}" type="parTrans" cxnId="{35AA65AC-AE81-4445-BD38-E35A4392FCE5}">
      <dgm:prSet/>
      <dgm:spPr/>
      <dgm:t>
        <a:bodyPr/>
        <a:lstStyle/>
        <a:p>
          <a:endParaRPr lang="en-US"/>
        </a:p>
      </dgm:t>
    </dgm:pt>
    <dgm:pt modelId="{1C2C3279-0DD1-4295-AE0F-031689486B12}" type="sibTrans" cxnId="{35AA65AC-AE81-4445-BD38-E35A4392FCE5}">
      <dgm:prSet/>
      <dgm:spPr/>
      <dgm:t>
        <a:bodyPr/>
        <a:lstStyle/>
        <a:p>
          <a:endParaRPr lang="en-US"/>
        </a:p>
      </dgm:t>
    </dgm:pt>
    <dgm:pt modelId="{DB5601EE-55FC-42B5-B0B3-6C08652DACB1}">
      <dgm:prSet/>
      <dgm:spPr/>
      <dgm:t>
        <a:bodyPr/>
        <a:lstStyle/>
        <a:p>
          <a:pPr>
            <a:lnSpc>
              <a:spcPct val="100000"/>
            </a:lnSpc>
          </a:pPr>
          <a:r>
            <a:rPr lang="en-US"/>
            <a:t>Another innovative study by G. H. G. et al. (2025) presents a wearable, real-time cardiac monitoring system capable of detecting and responding to critical cardiovascular anomalies. The system incorporates biosensors, hydrostatic pressure sensors, and bioelectrical impedance analysis (BIA) to measure key cardiovascular parameters—including heart rate, ECG signals, and blood oxygen saturation. Despite these advancements, issues relating to data accuracy, system scalability and privacy standards persist.</a:t>
          </a:r>
        </a:p>
      </dgm:t>
    </dgm:pt>
    <dgm:pt modelId="{396BBC98-CAB0-4F46-9DB7-BBF23725D4CF}" type="parTrans" cxnId="{CCC264C0-DDE8-4128-91AB-BB94FC09F6F0}">
      <dgm:prSet/>
      <dgm:spPr/>
      <dgm:t>
        <a:bodyPr/>
        <a:lstStyle/>
        <a:p>
          <a:endParaRPr lang="en-US"/>
        </a:p>
      </dgm:t>
    </dgm:pt>
    <dgm:pt modelId="{7962772D-E7D4-4EC9-B30D-DA471239E00C}" type="sibTrans" cxnId="{CCC264C0-DDE8-4128-91AB-BB94FC09F6F0}">
      <dgm:prSet/>
      <dgm:spPr/>
      <dgm:t>
        <a:bodyPr/>
        <a:lstStyle/>
        <a:p>
          <a:endParaRPr lang="en-US"/>
        </a:p>
      </dgm:t>
    </dgm:pt>
    <dgm:pt modelId="{671A9EBA-6F6F-496B-9B25-3F83C48B3F8F}" type="pres">
      <dgm:prSet presAssocID="{7B2ACD17-D18F-4ED6-BE57-963B60CF5AF6}" presName="root" presStyleCnt="0">
        <dgm:presLayoutVars>
          <dgm:dir/>
          <dgm:resizeHandles val="exact"/>
        </dgm:presLayoutVars>
      </dgm:prSet>
      <dgm:spPr/>
    </dgm:pt>
    <dgm:pt modelId="{75385A0F-17A4-470E-AB05-A4F8B06FC178}" type="pres">
      <dgm:prSet presAssocID="{3659561C-6BBF-47E9-B275-4BFE49A2B55E}" presName="compNode" presStyleCnt="0"/>
      <dgm:spPr/>
    </dgm:pt>
    <dgm:pt modelId="{87BE790B-F976-40D8-BEA2-644EAC8F89D8}" type="pres">
      <dgm:prSet presAssocID="{3659561C-6BBF-47E9-B275-4BFE49A2B55E}" presName="bgRect" presStyleLbl="bgShp" presStyleIdx="0" presStyleCnt="2"/>
      <dgm:spPr/>
    </dgm:pt>
    <dgm:pt modelId="{D58B7DA0-7D7F-4D50-B214-B0C4DDFE2067}" type="pres">
      <dgm:prSet presAssocID="{3659561C-6BBF-47E9-B275-4BFE49A2B55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est tubes"/>
        </a:ext>
      </dgm:extLst>
    </dgm:pt>
    <dgm:pt modelId="{46AB5603-E291-43C3-8BA9-88EEA6656E6A}" type="pres">
      <dgm:prSet presAssocID="{3659561C-6BBF-47E9-B275-4BFE49A2B55E}" presName="spaceRect" presStyleCnt="0"/>
      <dgm:spPr/>
    </dgm:pt>
    <dgm:pt modelId="{CE65ABD8-6385-4AE3-8C6E-25C8E83F6114}" type="pres">
      <dgm:prSet presAssocID="{3659561C-6BBF-47E9-B275-4BFE49A2B55E}" presName="parTx" presStyleLbl="revTx" presStyleIdx="0" presStyleCnt="2">
        <dgm:presLayoutVars>
          <dgm:chMax val="0"/>
          <dgm:chPref val="0"/>
        </dgm:presLayoutVars>
      </dgm:prSet>
      <dgm:spPr/>
    </dgm:pt>
    <dgm:pt modelId="{BFD204D7-1353-407D-A6C0-07542426E8F9}" type="pres">
      <dgm:prSet presAssocID="{1C2C3279-0DD1-4295-AE0F-031689486B12}" presName="sibTrans" presStyleCnt="0"/>
      <dgm:spPr/>
    </dgm:pt>
    <dgm:pt modelId="{995B4BEE-C43A-4244-98D8-EDCABDF889BF}" type="pres">
      <dgm:prSet presAssocID="{DB5601EE-55FC-42B5-B0B3-6C08652DACB1}" presName="compNode" presStyleCnt="0"/>
      <dgm:spPr/>
    </dgm:pt>
    <dgm:pt modelId="{FB53331D-7614-4A69-BC57-C8FAF056CEC8}" type="pres">
      <dgm:prSet presAssocID="{DB5601EE-55FC-42B5-B0B3-6C08652DACB1}" presName="bgRect" presStyleLbl="bgShp" presStyleIdx="1" presStyleCnt="2"/>
      <dgm:spPr/>
    </dgm:pt>
    <dgm:pt modelId="{C5411436-FD3F-4C80-A8AB-49D949978658}" type="pres">
      <dgm:prSet presAssocID="{DB5601EE-55FC-42B5-B0B3-6C08652DACB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rt Organ"/>
        </a:ext>
      </dgm:extLst>
    </dgm:pt>
    <dgm:pt modelId="{EE0F3DBE-B6B8-4346-A111-F7441E2BA956}" type="pres">
      <dgm:prSet presAssocID="{DB5601EE-55FC-42B5-B0B3-6C08652DACB1}" presName="spaceRect" presStyleCnt="0"/>
      <dgm:spPr/>
    </dgm:pt>
    <dgm:pt modelId="{B75323FA-B201-4726-8C09-01556E8882B4}" type="pres">
      <dgm:prSet presAssocID="{DB5601EE-55FC-42B5-B0B3-6C08652DACB1}" presName="parTx" presStyleLbl="revTx" presStyleIdx="1" presStyleCnt="2">
        <dgm:presLayoutVars>
          <dgm:chMax val="0"/>
          <dgm:chPref val="0"/>
        </dgm:presLayoutVars>
      </dgm:prSet>
      <dgm:spPr/>
    </dgm:pt>
  </dgm:ptLst>
  <dgm:cxnLst>
    <dgm:cxn modelId="{1AF4B400-8FB2-4AF3-890F-BDA528136070}" type="presOf" srcId="{7B2ACD17-D18F-4ED6-BE57-963B60CF5AF6}" destId="{671A9EBA-6F6F-496B-9B25-3F83C48B3F8F}" srcOrd="0" destOrd="0" presId="urn:microsoft.com/office/officeart/2018/2/layout/IconVerticalSolidList"/>
    <dgm:cxn modelId="{511F2634-6302-4E97-9E97-A3353DA40131}" type="presOf" srcId="{DB5601EE-55FC-42B5-B0B3-6C08652DACB1}" destId="{B75323FA-B201-4726-8C09-01556E8882B4}" srcOrd="0" destOrd="0" presId="urn:microsoft.com/office/officeart/2018/2/layout/IconVerticalSolidList"/>
    <dgm:cxn modelId="{35AA65AC-AE81-4445-BD38-E35A4392FCE5}" srcId="{7B2ACD17-D18F-4ED6-BE57-963B60CF5AF6}" destId="{3659561C-6BBF-47E9-B275-4BFE49A2B55E}" srcOrd="0" destOrd="0" parTransId="{9C612640-7E9F-448F-A4DB-EBAB1A6F10AE}" sibTransId="{1C2C3279-0DD1-4295-AE0F-031689486B12}"/>
    <dgm:cxn modelId="{80B1E6BC-D311-44E1-8471-9972188B3701}" type="presOf" srcId="{3659561C-6BBF-47E9-B275-4BFE49A2B55E}" destId="{CE65ABD8-6385-4AE3-8C6E-25C8E83F6114}" srcOrd="0" destOrd="0" presId="urn:microsoft.com/office/officeart/2018/2/layout/IconVerticalSolidList"/>
    <dgm:cxn modelId="{CCC264C0-DDE8-4128-91AB-BB94FC09F6F0}" srcId="{7B2ACD17-D18F-4ED6-BE57-963B60CF5AF6}" destId="{DB5601EE-55FC-42B5-B0B3-6C08652DACB1}" srcOrd="1" destOrd="0" parTransId="{396BBC98-CAB0-4F46-9DB7-BBF23725D4CF}" sibTransId="{7962772D-E7D4-4EC9-B30D-DA471239E00C}"/>
    <dgm:cxn modelId="{307F68DD-B303-4473-A03F-3CD9627480D4}" type="presParOf" srcId="{671A9EBA-6F6F-496B-9B25-3F83C48B3F8F}" destId="{75385A0F-17A4-470E-AB05-A4F8B06FC178}" srcOrd="0" destOrd="0" presId="urn:microsoft.com/office/officeart/2018/2/layout/IconVerticalSolidList"/>
    <dgm:cxn modelId="{EDDB48DA-B642-4A07-81D6-B132A2DA03F9}" type="presParOf" srcId="{75385A0F-17A4-470E-AB05-A4F8B06FC178}" destId="{87BE790B-F976-40D8-BEA2-644EAC8F89D8}" srcOrd="0" destOrd="0" presId="urn:microsoft.com/office/officeart/2018/2/layout/IconVerticalSolidList"/>
    <dgm:cxn modelId="{15133920-4341-4693-8018-64F6C8E4C67F}" type="presParOf" srcId="{75385A0F-17A4-470E-AB05-A4F8B06FC178}" destId="{D58B7DA0-7D7F-4D50-B214-B0C4DDFE2067}" srcOrd="1" destOrd="0" presId="urn:microsoft.com/office/officeart/2018/2/layout/IconVerticalSolidList"/>
    <dgm:cxn modelId="{A914ED37-5F41-413A-884E-1E616D6D001E}" type="presParOf" srcId="{75385A0F-17A4-470E-AB05-A4F8B06FC178}" destId="{46AB5603-E291-43C3-8BA9-88EEA6656E6A}" srcOrd="2" destOrd="0" presId="urn:microsoft.com/office/officeart/2018/2/layout/IconVerticalSolidList"/>
    <dgm:cxn modelId="{21659840-522A-427B-A3DE-1F4E31334406}" type="presParOf" srcId="{75385A0F-17A4-470E-AB05-A4F8B06FC178}" destId="{CE65ABD8-6385-4AE3-8C6E-25C8E83F6114}" srcOrd="3" destOrd="0" presId="urn:microsoft.com/office/officeart/2018/2/layout/IconVerticalSolidList"/>
    <dgm:cxn modelId="{B4C6C329-B6EF-4412-9CFA-4D06CF93066D}" type="presParOf" srcId="{671A9EBA-6F6F-496B-9B25-3F83C48B3F8F}" destId="{BFD204D7-1353-407D-A6C0-07542426E8F9}" srcOrd="1" destOrd="0" presId="urn:microsoft.com/office/officeart/2018/2/layout/IconVerticalSolidList"/>
    <dgm:cxn modelId="{E60FE5F1-81C9-4873-A749-90ED6A4D4041}" type="presParOf" srcId="{671A9EBA-6F6F-496B-9B25-3F83C48B3F8F}" destId="{995B4BEE-C43A-4244-98D8-EDCABDF889BF}" srcOrd="2" destOrd="0" presId="urn:microsoft.com/office/officeart/2018/2/layout/IconVerticalSolidList"/>
    <dgm:cxn modelId="{CE387F20-FEA7-44FD-8B2F-6CB194211BD0}" type="presParOf" srcId="{995B4BEE-C43A-4244-98D8-EDCABDF889BF}" destId="{FB53331D-7614-4A69-BC57-C8FAF056CEC8}" srcOrd="0" destOrd="0" presId="urn:microsoft.com/office/officeart/2018/2/layout/IconVerticalSolidList"/>
    <dgm:cxn modelId="{FC61582C-E124-4CEE-BE84-80277DB46D19}" type="presParOf" srcId="{995B4BEE-C43A-4244-98D8-EDCABDF889BF}" destId="{C5411436-FD3F-4C80-A8AB-49D949978658}" srcOrd="1" destOrd="0" presId="urn:microsoft.com/office/officeart/2018/2/layout/IconVerticalSolidList"/>
    <dgm:cxn modelId="{329EE070-2788-4D34-91CF-2FAAC0BA9677}" type="presParOf" srcId="{995B4BEE-C43A-4244-98D8-EDCABDF889BF}" destId="{EE0F3DBE-B6B8-4346-A111-F7441E2BA956}" srcOrd="2" destOrd="0" presId="urn:microsoft.com/office/officeart/2018/2/layout/IconVerticalSolidList"/>
    <dgm:cxn modelId="{833BEB62-BF91-49E6-A733-7C1CD2B25375}" type="presParOf" srcId="{995B4BEE-C43A-4244-98D8-EDCABDF889BF}" destId="{B75323FA-B201-4726-8C09-01556E8882B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03B53C-C32B-460A-A01B-E403D68504A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C314FB5-5A33-4057-B7ED-2AB88E07C4EC}">
      <dgm:prSet/>
      <dgm:spPr/>
      <dgm:t>
        <a:bodyPr/>
        <a:lstStyle/>
        <a:p>
          <a:pPr>
            <a:lnSpc>
              <a:spcPct val="100000"/>
            </a:lnSpc>
          </a:pPr>
          <a:r>
            <a:rPr lang="en-US"/>
            <a:t>Erdene et Saver (2021) demonstrate the significance of wireless sensors and AI-based recognition systems in a continuous, real-time stroke detection study. This system can monitor motion, speech, gait, and sensory changes that may indicate early signs of stroke onset. However, further translational research is needed to validate their performance, ensure data reliability, and establish a clinical protocol for real-world use.</a:t>
          </a:r>
        </a:p>
      </dgm:t>
    </dgm:pt>
    <dgm:pt modelId="{F8368DD6-CBD0-4C36-8DA8-C1B002DCE628}" type="parTrans" cxnId="{7BF28FAE-3A66-4048-89AD-1AC4A1E3437E}">
      <dgm:prSet/>
      <dgm:spPr/>
      <dgm:t>
        <a:bodyPr/>
        <a:lstStyle/>
        <a:p>
          <a:endParaRPr lang="en-US"/>
        </a:p>
      </dgm:t>
    </dgm:pt>
    <dgm:pt modelId="{A33D3E7C-20E3-4492-9278-3B163418635F}" type="sibTrans" cxnId="{7BF28FAE-3A66-4048-89AD-1AC4A1E3437E}">
      <dgm:prSet/>
      <dgm:spPr/>
      <dgm:t>
        <a:bodyPr/>
        <a:lstStyle/>
        <a:p>
          <a:endParaRPr lang="en-US"/>
        </a:p>
      </dgm:t>
    </dgm:pt>
    <dgm:pt modelId="{79E5F16B-0D38-4A40-BD57-082248F5832E}">
      <dgm:prSet/>
      <dgm:spPr/>
      <dgm:t>
        <a:bodyPr/>
        <a:lstStyle/>
        <a:p>
          <a:pPr>
            <a:lnSpc>
              <a:spcPct val="100000"/>
            </a:lnSpc>
          </a:pPr>
          <a:r>
            <a:rPr lang="en-US"/>
            <a:t>Another study by A. K et al. (2024) have shown that the tree-based algorithms and SVM are effective in CVD prediction due to their ability to handle non-linear interactions among Cardiovascular risk factors. This literature underscores the potential of AI-powered health platforms to revolutionize patient care through continuous monitoring, personalized insights, and proactive disease management.</a:t>
          </a:r>
        </a:p>
      </dgm:t>
    </dgm:pt>
    <dgm:pt modelId="{D5B581E1-9414-44B7-B1B4-A08C726D9A83}" type="parTrans" cxnId="{F8440B8F-9BAB-4EB3-A72F-B00C3B447067}">
      <dgm:prSet/>
      <dgm:spPr/>
      <dgm:t>
        <a:bodyPr/>
        <a:lstStyle/>
        <a:p>
          <a:endParaRPr lang="en-US"/>
        </a:p>
      </dgm:t>
    </dgm:pt>
    <dgm:pt modelId="{901FBC91-BAFC-4FE9-A473-BB11B87CD2FF}" type="sibTrans" cxnId="{F8440B8F-9BAB-4EB3-A72F-B00C3B447067}">
      <dgm:prSet/>
      <dgm:spPr/>
      <dgm:t>
        <a:bodyPr/>
        <a:lstStyle/>
        <a:p>
          <a:endParaRPr lang="en-US"/>
        </a:p>
      </dgm:t>
    </dgm:pt>
    <dgm:pt modelId="{01ADA5E4-70FB-4F13-A2E1-7720F8589DD5}" type="pres">
      <dgm:prSet presAssocID="{5B03B53C-C32B-460A-A01B-E403D68504AF}" presName="root" presStyleCnt="0">
        <dgm:presLayoutVars>
          <dgm:dir/>
          <dgm:resizeHandles val="exact"/>
        </dgm:presLayoutVars>
      </dgm:prSet>
      <dgm:spPr/>
    </dgm:pt>
    <dgm:pt modelId="{E0336155-B629-4401-A219-EB3C785F4F2D}" type="pres">
      <dgm:prSet presAssocID="{3C314FB5-5A33-4057-B7ED-2AB88E07C4EC}" presName="compNode" presStyleCnt="0"/>
      <dgm:spPr/>
    </dgm:pt>
    <dgm:pt modelId="{0485AD5B-E2B2-4EAF-8135-3D4ABFB112D6}" type="pres">
      <dgm:prSet presAssocID="{3C314FB5-5A33-4057-B7ED-2AB88E07C4EC}" presName="bgRect" presStyleLbl="bgShp" presStyleIdx="0" presStyleCnt="2"/>
      <dgm:spPr/>
    </dgm:pt>
    <dgm:pt modelId="{3236AF96-A5B5-433B-9BC9-EA74482DBA7E}" type="pres">
      <dgm:prSet presAssocID="{3C314FB5-5A33-4057-B7ED-2AB88E07C4E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obot"/>
        </a:ext>
      </dgm:extLst>
    </dgm:pt>
    <dgm:pt modelId="{0849D7BE-1D29-4813-AD1C-39CA6D3ABD2A}" type="pres">
      <dgm:prSet presAssocID="{3C314FB5-5A33-4057-B7ED-2AB88E07C4EC}" presName="spaceRect" presStyleCnt="0"/>
      <dgm:spPr/>
    </dgm:pt>
    <dgm:pt modelId="{E8703681-4EC5-447C-9017-2E493A671ED9}" type="pres">
      <dgm:prSet presAssocID="{3C314FB5-5A33-4057-B7ED-2AB88E07C4EC}" presName="parTx" presStyleLbl="revTx" presStyleIdx="0" presStyleCnt="2">
        <dgm:presLayoutVars>
          <dgm:chMax val="0"/>
          <dgm:chPref val="0"/>
        </dgm:presLayoutVars>
      </dgm:prSet>
      <dgm:spPr/>
    </dgm:pt>
    <dgm:pt modelId="{29307CD9-B835-42E9-B003-2EF409A52C97}" type="pres">
      <dgm:prSet presAssocID="{A33D3E7C-20E3-4492-9278-3B163418635F}" presName="sibTrans" presStyleCnt="0"/>
      <dgm:spPr/>
    </dgm:pt>
    <dgm:pt modelId="{94357690-FB57-4890-A06D-0036B15F9F7F}" type="pres">
      <dgm:prSet presAssocID="{79E5F16B-0D38-4A40-BD57-082248F5832E}" presName="compNode" presStyleCnt="0"/>
      <dgm:spPr/>
    </dgm:pt>
    <dgm:pt modelId="{8E13DA0A-0ECD-43CC-8AB4-305F92E5E908}" type="pres">
      <dgm:prSet presAssocID="{79E5F16B-0D38-4A40-BD57-082248F5832E}" presName="bgRect" presStyleLbl="bgShp" presStyleIdx="1" presStyleCnt="2"/>
      <dgm:spPr/>
    </dgm:pt>
    <dgm:pt modelId="{35951607-167C-456F-BAD3-3550CFD274E5}" type="pres">
      <dgm:prSet presAssocID="{79E5F16B-0D38-4A40-BD57-082248F5832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NA"/>
        </a:ext>
      </dgm:extLst>
    </dgm:pt>
    <dgm:pt modelId="{F5183EE6-1110-43E3-8631-395EE55EBA85}" type="pres">
      <dgm:prSet presAssocID="{79E5F16B-0D38-4A40-BD57-082248F5832E}" presName="spaceRect" presStyleCnt="0"/>
      <dgm:spPr/>
    </dgm:pt>
    <dgm:pt modelId="{B7EC5E8E-31E3-47E2-8841-644847F4B0A9}" type="pres">
      <dgm:prSet presAssocID="{79E5F16B-0D38-4A40-BD57-082248F5832E}" presName="parTx" presStyleLbl="revTx" presStyleIdx="1" presStyleCnt="2">
        <dgm:presLayoutVars>
          <dgm:chMax val="0"/>
          <dgm:chPref val="0"/>
        </dgm:presLayoutVars>
      </dgm:prSet>
      <dgm:spPr/>
    </dgm:pt>
  </dgm:ptLst>
  <dgm:cxnLst>
    <dgm:cxn modelId="{ECF30A37-AC1D-445B-9D2B-36AD1694F704}" type="presOf" srcId="{79E5F16B-0D38-4A40-BD57-082248F5832E}" destId="{B7EC5E8E-31E3-47E2-8841-644847F4B0A9}" srcOrd="0" destOrd="0" presId="urn:microsoft.com/office/officeart/2018/2/layout/IconVerticalSolidList"/>
    <dgm:cxn modelId="{F8440B8F-9BAB-4EB3-A72F-B00C3B447067}" srcId="{5B03B53C-C32B-460A-A01B-E403D68504AF}" destId="{79E5F16B-0D38-4A40-BD57-082248F5832E}" srcOrd="1" destOrd="0" parTransId="{D5B581E1-9414-44B7-B1B4-A08C726D9A83}" sibTransId="{901FBC91-BAFC-4FE9-A473-BB11B87CD2FF}"/>
    <dgm:cxn modelId="{7BF28FAE-3A66-4048-89AD-1AC4A1E3437E}" srcId="{5B03B53C-C32B-460A-A01B-E403D68504AF}" destId="{3C314FB5-5A33-4057-B7ED-2AB88E07C4EC}" srcOrd="0" destOrd="0" parTransId="{F8368DD6-CBD0-4C36-8DA8-C1B002DCE628}" sibTransId="{A33D3E7C-20E3-4492-9278-3B163418635F}"/>
    <dgm:cxn modelId="{436628E8-619C-4161-8AEF-49404F970577}" type="presOf" srcId="{5B03B53C-C32B-460A-A01B-E403D68504AF}" destId="{01ADA5E4-70FB-4F13-A2E1-7720F8589DD5}" srcOrd="0" destOrd="0" presId="urn:microsoft.com/office/officeart/2018/2/layout/IconVerticalSolidList"/>
    <dgm:cxn modelId="{A7CE60FD-72B3-4182-88F7-D755C19DBA49}" type="presOf" srcId="{3C314FB5-5A33-4057-B7ED-2AB88E07C4EC}" destId="{E8703681-4EC5-447C-9017-2E493A671ED9}" srcOrd="0" destOrd="0" presId="urn:microsoft.com/office/officeart/2018/2/layout/IconVerticalSolidList"/>
    <dgm:cxn modelId="{CF285E94-660E-4B7E-8235-D345169FC15F}" type="presParOf" srcId="{01ADA5E4-70FB-4F13-A2E1-7720F8589DD5}" destId="{E0336155-B629-4401-A219-EB3C785F4F2D}" srcOrd="0" destOrd="0" presId="urn:microsoft.com/office/officeart/2018/2/layout/IconVerticalSolidList"/>
    <dgm:cxn modelId="{62CCE3FD-E888-4EC8-A980-5819628C5B03}" type="presParOf" srcId="{E0336155-B629-4401-A219-EB3C785F4F2D}" destId="{0485AD5B-E2B2-4EAF-8135-3D4ABFB112D6}" srcOrd="0" destOrd="0" presId="urn:microsoft.com/office/officeart/2018/2/layout/IconVerticalSolidList"/>
    <dgm:cxn modelId="{53C39CBF-53F0-4983-B117-23838B21B51F}" type="presParOf" srcId="{E0336155-B629-4401-A219-EB3C785F4F2D}" destId="{3236AF96-A5B5-433B-9BC9-EA74482DBA7E}" srcOrd="1" destOrd="0" presId="urn:microsoft.com/office/officeart/2018/2/layout/IconVerticalSolidList"/>
    <dgm:cxn modelId="{908FBB4F-B2EF-4CA0-8B5A-8FB425EF5BBD}" type="presParOf" srcId="{E0336155-B629-4401-A219-EB3C785F4F2D}" destId="{0849D7BE-1D29-4813-AD1C-39CA6D3ABD2A}" srcOrd="2" destOrd="0" presId="urn:microsoft.com/office/officeart/2018/2/layout/IconVerticalSolidList"/>
    <dgm:cxn modelId="{67290C35-5DEF-4636-BC40-7EEC2BC23AA0}" type="presParOf" srcId="{E0336155-B629-4401-A219-EB3C785F4F2D}" destId="{E8703681-4EC5-447C-9017-2E493A671ED9}" srcOrd="3" destOrd="0" presId="urn:microsoft.com/office/officeart/2018/2/layout/IconVerticalSolidList"/>
    <dgm:cxn modelId="{31C40135-2127-45F0-A5D1-DAE06ECEAA7E}" type="presParOf" srcId="{01ADA5E4-70FB-4F13-A2E1-7720F8589DD5}" destId="{29307CD9-B835-42E9-B003-2EF409A52C97}" srcOrd="1" destOrd="0" presId="urn:microsoft.com/office/officeart/2018/2/layout/IconVerticalSolidList"/>
    <dgm:cxn modelId="{30DF1C11-FB5A-4287-BBCD-1BDC8DD75B7C}" type="presParOf" srcId="{01ADA5E4-70FB-4F13-A2E1-7720F8589DD5}" destId="{94357690-FB57-4890-A06D-0036B15F9F7F}" srcOrd="2" destOrd="0" presId="urn:microsoft.com/office/officeart/2018/2/layout/IconVerticalSolidList"/>
    <dgm:cxn modelId="{AE6FFB0E-6C93-4106-B69F-A040B5655CE1}" type="presParOf" srcId="{94357690-FB57-4890-A06D-0036B15F9F7F}" destId="{8E13DA0A-0ECD-43CC-8AB4-305F92E5E908}" srcOrd="0" destOrd="0" presId="urn:microsoft.com/office/officeart/2018/2/layout/IconVerticalSolidList"/>
    <dgm:cxn modelId="{A5775C29-5001-4DA1-800D-79AC645732EF}" type="presParOf" srcId="{94357690-FB57-4890-A06D-0036B15F9F7F}" destId="{35951607-167C-456F-BAD3-3550CFD274E5}" srcOrd="1" destOrd="0" presId="urn:microsoft.com/office/officeart/2018/2/layout/IconVerticalSolidList"/>
    <dgm:cxn modelId="{6FC51775-24AE-44D0-977F-4B12FB284B03}" type="presParOf" srcId="{94357690-FB57-4890-A06D-0036B15F9F7F}" destId="{F5183EE6-1110-43E3-8631-395EE55EBA85}" srcOrd="2" destOrd="0" presId="urn:microsoft.com/office/officeart/2018/2/layout/IconVerticalSolidList"/>
    <dgm:cxn modelId="{FF4E1F33-D2A7-41DA-856C-7147D6CD3754}" type="presParOf" srcId="{94357690-FB57-4890-A06D-0036B15F9F7F}" destId="{B7EC5E8E-31E3-47E2-8841-644847F4B0A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7FFCF4-A712-4B25-9CEF-DA0A49FDFE37}"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2D0D05ED-3B4C-437A-ABD9-587335D533CD}">
      <dgm:prSet/>
      <dgm:spPr/>
      <dgm:t>
        <a:bodyPr/>
        <a:lstStyle/>
        <a:p>
          <a:r>
            <a:rPr lang="en-US" dirty="0"/>
            <a:t>1. Logistic Regression: A good and computationally efficient baseline model for binary classification tasks. </a:t>
          </a:r>
        </a:p>
      </dgm:t>
    </dgm:pt>
    <dgm:pt modelId="{01A0A2CE-EF31-4DE0-A419-C8ED62E447B7}" type="parTrans" cxnId="{F1E6229A-BFB0-435E-8732-88CB32C07943}">
      <dgm:prSet/>
      <dgm:spPr/>
      <dgm:t>
        <a:bodyPr/>
        <a:lstStyle/>
        <a:p>
          <a:endParaRPr lang="en-US"/>
        </a:p>
      </dgm:t>
    </dgm:pt>
    <dgm:pt modelId="{A371393C-F91D-4227-8936-F17C50BDDA37}" type="sibTrans" cxnId="{F1E6229A-BFB0-435E-8732-88CB32C07943}">
      <dgm:prSet phldrT="01"/>
      <dgm:spPr/>
      <dgm:t>
        <a:bodyPr/>
        <a:lstStyle/>
        <a:p>
          <a:r>
            <a:rPr lang="en-US"/>
            <a:t>01</a:t>
          </a:r>
        </a:p>
      </dgm:t>
    </dgm:pt>
    <dgm:pt modelId="{59AEE650-EE65-439C-9760-3EEFAA3953CF}">
      <dgm:prSet/>
      <dgm:spPr/>
      <dgm:t>
        <a:bodyPr/>
        <a:lstStyle/>
        <a:p>
          <a:r>
            <a:rPr lang="en-US"/>
            <a:t>2. Decision Trees:  A simple ensemble algorithm noted for capturing non-linear relationships between features.</a:t>
          </a:r>
        </a:p>
      </dgm:t>
    </dgm:pt>
    <dgm:pt modelId="{E5F73777-F0DC-4403-BE36-76D739A02128}" type="parTrans" cxnId="{E2E16EF5-B5A2-42B5-9836-764DE767146B}">
      <dgm:prSet/>
      <dgm:spPr/>
      <dgm:t>
        <a:bodyPr/>
        <a:lstStyle/>
        <a:p>
          <a:endParaRPr lang="en-US"/>
        </a:p>
      </dgm:t>
    </dgm:pt>
    <dgm:pt modelId="{BD533213-D9F9-4D33-983A-A2937EED00B3}" type="sibTrans" cxnId="{E2E16EF5-B5A2-42B5-9836-764DE767146B}">
      <dgm:prSet phldrT="02"/>
      <dgm:spPr/>
      <dgm:t>
        <a:bodyPr/>
        <a:lstStyle/>
        <a:p>
          <a:r>
            <a:rPr lang="en-US"/>
            <a:t>02</a:t>
          </a:r>
        </a:p>
      </dgm:t>
    </dgm:pt>
    <dgm:pt modelId="{7C9EE584-DACD-470D-B8D1-3AD881C0C3D1}">
      <dgm:prSet/>
      <dgm:spPr/>
      <dgm:t>
        <a:bodyPr/>
        <a:lstStyle/>
        <a:p>
          <a:r>
            <a:rPr lang="en-US"/>
            <a:t>3. Random Forest: An ensemble method that combines multiple decision trees. This often leads to improved accuracy and robustness compared to a single decision tree.           </a:t>
          </a:r>
        </a:p>
      </dgm:t>
    </dgm:pt>
    <dgm:pt modelId="{F7F34569-865E-4F20-89CF-B123D9715FB2}" type="parTrans" cxnId="{B3AE2A52-652A-4405-9531-426A7099C894}">
      <dgm:prSet/>
      <dgm:spPr/>
      <dgm:t>
        <a:bodyPr/>
        <a:lstStyle/>
        <a:p>
          <a:endParaRPr lang="en-US"/>
        </a:p>
      </dgm:t>
    </dgm:pt>
    <dgm:pt modelId="{684D674E-FC04-49A4-9D41-305EECBD6889}" type="sibTrans" cxnId="{B3AE2A52-652A-4405-9531-426A7099C894}">
      <dgm:prSet phldrT="03"/>
      <dgm:spPr/>
      <dgm:t>
        <a:bodyPr/>
        <a:lstStyle/>
        <a:p>
          <a:r>
            <a:rPr lang="en-US"/>
            <a:t>03</a:t>
          </a:r>
        </a:p>
      </dgm:t>
    </dgm:pt>
    <dgm:pt modelId="{A9D8AACB-779E-406F-9D1A-7AEB02EC9F6B}">
      <dgm:prSet/>
      <dgm:spPr/>
      <dgm:t>
        <a:bodyPr/>
        <a:lstStyle/>
        <a:p>
          <a:r>
            <a:rPr lang="en-US"/>
            <a:t>4. Extreme Gradient Boosting: A gradient boosting algorithm known for its high performance and ability to handle complex datasets.</a:t>
          </a:r>
        </a:p>
      </dgm:t>
    </dgm:pt>
    <dgm:pt modelId="{B9D7C516-073E-44A9-9EAA-4ED3269CDD50}" type="parTrans" cxnId="{41131EFA-8ADC-4B31-8782-87A9321013B1}">
      <dgm:prSet/>
      <dgm:spPr/>
      <dgm:t>
        <a:bodyPr/>
        <a:lstStyle/>
        <a:p>
          <a:endParaRPr lang="en-US"/>
        </a:p>
      </dgm:t>
    </dgm:pt>
    <dgm:pt modelId="{786A3024-F7F0-4A88-94F1-9D6319E4D6FF}" type="sibTrans" cxnId="{41131EFA-8ADC-4B31-8782-87A9321013B1}">
      <dgm:prSet phldrT="04"/>
      <dgm:spPr/>
      <dgm:t>
        <a:bodyPr/>
        <a:lstStyle/>
        <a:p>
          <a:r>
            <a:rPr lang="en-US"/>
            <a:t>04</a:t>
          </a:r>
        </a:p>
      </dgm:t>
    </dgm:pt>
    <dgm:pt modelId="{44A67F98-FFFC-4B11-9711-7F47C81B7635}" type="pres">
      <dgm:prSet presAssocID="{9B7FFCF4-A712-4B25-9CEF-DA0A49FDFE37}" presName="Name0" presStyleCnt="0">
        <dgm:presLayoutVars>
          <dgm:animLvl val="lvl"/>
          <dgm:resizeHandles val="exact"/>
        </dgm:presLayoutVars>
      </dgm:prSet>
      <dgm:spPr/>
    </dgm:pt>
    <dgm:pt modelId="{BBA97E58-9820-453D-9914-F3638C5CFE87}" type="pres">
      <dgm:prSet presAssocID="{2D0D05ED-3B4C-437A-ABD9-587335D533CD}" presName="compositeNode" presStyleCnt="0">
        <dgm:presLayoutVars>
          <dgm:bulletEnabled val="1"/>
        </dgm:presLayoutVars>
      </dgm:prSet>
      <dgm:spPr/>
    </dgm:pt>
    <dgm:pt modelId="{978F745C-A11B-4867-B6D2-A914FE684889}" type="pres">
      <dgm:prSet presAssocID="{2D0D05ED-3B4C-437A-ABD9-587335D533CD}" presName="bgRect" presStyleLbl="alignNode1" presStyleIdx="0" presStyleCnt="4"/>
      <dgm:spPr/>
    </dgm:pt>
    <dgm:pt modelId="{93353CF3-113E-442A-B4A6-7177763056EB}" type="pres">
      <dgm:prSet presAssocID="{A371393C-F91D-4227-8936-F17C50BDDA37}" presName="sibTransNodeRect" presStyleLbl="alignNode1" presStyleIdx="0" presStyleCnt="4">
        <dgm:presLayoutVars>
          <dgm:chMax val="0"/>
          <dgm:bulletEnabled val="1"/>
        </dgm:presLayoutVars>
      </dgm:prSet>
      <dgm:spPr/>
    </dgm:pt>
    <dgm:pt modelId="{FDC4D56F-A32C-4205-8390-0F322D54C36A}" type="pres">
      <dgm:prSet presAssocID="{2D0D05ED-3B4C-437A-ABD9-587335D533CD}" presName="nodeRect" presStyleLbl="alignNode1" presStyleIdx="0" presStyleCnt="4">
        <dgm:presLayoutVars>
          <dgm:bulletEnabled val="1"/>
        </dgm:presLayoutVars>
      </dgm:prSet>
      <dgm:spPr/>
    </dgm:pt>
    <dgm:pt modelId="{0BA282BF-4B73-481C-8043-7CC0E0D35CD6}" type="pres">
      <dgm:prSet presAssocID="{A371393C-F91D-4227-8936-F17C50BDDA37}" presName="sibTrans" presStyleCnt="0"/>
      <dgm:spPr/>
    </dgm:pt>
    <dgm:pt modelId="{64CFCC99-3CC0-4D79-9CD9-4C07C534B964}" type="pres">
      <dgm:prSet presAssocID="{59AEE650-EE65-439C-9760-3EEFAA3953CF}" presName="compositeNode" presStyleCnt="0">
        <dgm:presLayoutVars>
          <dgm:bulletEnabled val="1"/>
        </dgm:presLayoutVars>
      </dgm:prSet>
      <dgm:spPr/>
    </dgm:pt>
    <dgm:pt modelId="{474EB3CB-57D5-4752-B4CD-98C374282204}" type="pres">
      <dgm:prSet presAssocID="{59AEE650-EE65-439C-9760-3EEFAA3953CF}" presName="bgRect" presStyleLbl="alignNode1" presStyleIdx="1" presStyleCnt="4"/>
      <dgm:spPr/>
    </dgm:pt>
    <dgm:pt modelId="{8A8D600E-893B-47CD-957B-D7B49F140DAB}" type="pres">
      <dgm:prSet presAssocID="{BD533213-D9F9-4D33-983A-A2937EED00B3}" presName="sibTransNodeRect" presStyleLbl="alignNode1" presStyleIdx="1" presStyleCnt="4">
        <dgm:presLayoutVars>
          <dgm:chMax val="0"/>
          <dgm:bulletEnabled val="1"/>
        </dgm:presLayoutVars>
      </dgm:prSet>
      <dgm:spPr/>
    </dgm:pt>
    <dgm:pt modelId="{27EDD09A-4BDE-4CAE-AFD6-1872BF2D0143}" type="pres">
      <dgm:prSet presAssocID="{59AEE650-EE65-439C-9760-3EEFAA3953CF}" presName="nodeRect" presStyleLbl="alignNode1" presStyleIdx="1" presStyleCnt="4">
        <dgm:presLayoutVars>
          <dgm:bulletEnabled val="1"/>
        </dgm:presLayoutVars>
      </dgm:prSet>
      <dgm:spPr/>
    </dgm:pt>
    <dgm:pt modelId="{6A028D7E-9641-4598-92FE-D590935AE5DF}" type="pres">
      <dgm:prSet presAssocID="{BD533213-D9F9-4D33-983A-A2937EED00B3}" presName="sibTrans" presStyleCnt="0"/>
      <dgm:spPr/>
    </dgm:pt>
    <dgm:pt modelId="{E4557E87-2FA4-49F8-A6D0-BA32ACE9969A}" type="pres">
      <dgm:prSet presAssocID="{7C9EE584-DACD-470D-B8D1-3AD881C0C3D1}" presName="compositeNode" presStyleCnt="0">
        <dgm:presLayoutVars>
          <dgm:bulletEnabled val="1"/>
        </dgm:presLayoutVars>
      </dgm:prSet>
      <dgm:spPr/>
    </dgm:pt>
    <dgm:pt modelId="{272E5FED-9FC2-4C82-ADB4-8B5BB12DD258}" type="pres">
      <dgm:prSet presAssocID="{7C9EE584-DACD-470D-B8D1-3AD881C0C3D1}" presName="bgRect" presStyleLbl="alignNode1" presStyleIdx="2" presStyleCnt="4"/>
      <dgm:spPr/>
    </dgm:pt>
    <dgm:pt modelId="{4C8170B7-5F27-4C96-80FA-6C5AC08B9061}" type="pres">
      <dgm:prSet presAssocID="{684D674E-FC04-49A4-9D41-305EECBD6889}" presName="sibTransNodeRect" presStyleLbl="alignNode1" presStyleIdx="2" presStyleCnt="4">
        <dgm:presLayoutVars>
          <dgm:chMax val="0"/>
          <dgm:bulletEnabled val="1"/>
        </dgm:presLayoutVars>
      </dgm:prSet>
      <dgm:spPr/>
    </dgm:pt>
    <dgm:pt modelId="{7436FE46-981A-44E7-92CC-278FA472AE3B}" type="pres">
      <dgm:prSet presAssocID="{7C9EE584-DACD-470D-B8D1-3AD881C0C3D1}" presName="nodeRect" presStyleLbl="alignNode1" presStyleIdx="2" presStyleCnt="4">
        <dgm:presLayoutVars>
          <dgm:bulletEnabled val="1"/>
        </dgm:presLayoutVars>
      </dgm:prSet>
      <dgm:spPr/>
    </dgm:pt>
    <dgm:pt modelId="{1F49321F-C521-45A9-B942-5506983C975E}" type="pres">
      <dgm:prSet presAssocID="{684D674E-FC04-49A4-9D41-305EECBD6889}" presName="sibTrans" presStyleCnt="0"/>
      <dgm:spPr/>
    </dgm:pt>
    <dgm:pt modelId="{7E29E668-2E72-4FF9-AF3C-6C3301F74F2F}" type="pres">
      <dgm:prSet presAssocID="{A9D8AACB-779E-406F-9D1A-7AEB02EC9F6B}" presName="compositeNode" presStyleCnt="0">
        <dgm:presLayoutVars>
          <dgm:bulletEnabled val="1"/>
        </dgm:presLayoutVars>
      </dgm:prSet>
      <dgm:spPr/>
    </dgm:pt>
    <dgm:pt modelId="{F065A9F9-8F2B-4FAB-812C-ED12B263C11D}" type="pres">
      <dgm:prSet presAssocID="{A9D8AACB-779E-406F-9D1A-7AEB02EC9F6B}" presName="bgRect" presStyleLbl="alignNode1" presStyleIdx="3" presStyleCnt="4"/>
      <dgm:spPr/>
    </dgm:pt>
    <dgm:pt modelId="{06CE647C-7E0B-4E0B-AF7F-4A238CDD1C41}" type="pres">
      <dgm:prSet presAssocID="{786A3024-F7F0-4A88-94F1-9D6319E4D6FF}" presName="sibTransNodeRect" presStyleLbl="alignNode1" presStyleIdx="3" presStyleCnt="4">
        <dgm:presLayoutVars>
          <dgm:chMax val="0"/>
          <dgm:bulletEnabled val="1"/>
        </dgm:presLayoutVars>
      </dgm:prSet>
      <dgm:spPr/>
    </dgm:pt>
    <dgm:pt modelId="{3F37E925-A0A4-4044-90BF-9DBF34D45FF9}" type="pres">
      <dgm:prSet presAssocID="{A9D8AACB-779E-406F-9D1A-7AEB02EC9F6B}" presName="nodeRect" presStyleLbl="alignNode1" presStyleIdx="3" presStyleCnt="4">
        <dgm:presLayoutVars>
          <dgm:bulletEnabled val="1"/>
        </dgm:presLayoutVars>
      </dgm:prSet>
      <dgm:spPr/>
    </dgm:pt>
  </dgm:ptLst>
  <dgm:cxnLst>
    <dgm:cxn modelId="{4EF2C212-2AC0-403D-8208-64B73AD28015}" type="presOf" srcId="{7C9EE584-DACD-470D-B8D1-3AD881C0C3D1}" destId="{272E5FED-9FC2-4C82-ADB4-8B5BB12DD258}" srcOrd="0" destOrd="0" presId="urn:microsoft.com/office/officeart/2016/7/layout/LinearBlockProcessNumbered"/>
    <dgm:cxn modelId="{0835F624-0EDA-45C8-A527-F7223015FC69}" type="presOf" srcId="{A9D8AACB-779E-406F-9D1A-7AEB02EC9F6B}" destId="{F065A9F9-8F2B-4FAB-812C-ED12B263C11D}" srcOrd="0" destOrd="0" presId="urn:microsoft.com/office/officeart/2016/7/layout/LinearBlockProcessNumbered"/>
    <dgm:cxn modelId="{7B038363-AB80-4797-988E-51B3B1443D91}" type="presOf" srcId="{BD533213-D9F9-4D33-983A-A2937EED00B3}" destId="{8A8D600E-893B-47CD-957B-D7B49F140DAB}" srcOrd="0" destOrd="0" presId="urn:microsoft.com/office/officeart/2016/7/layout/LinearBlockProcessNumbered"/>
    <dgm:cxn modelId="{C811176E-67B5-4053-A589-175CC7D92436}" type="presOf" srcId="{7C9EE584-DACD-470D-B8D1-3AD881C0C3D1}" destId="{7436FE46-981A-44E7-92CC-278FA472AE3B}" srcOrd="1" destOrd="0" presId="urn:microsoft.com/office/officeart/2016/7/layout/LinearBlockProcessNumbered"/>
    <dgm:cxn modelId="{3585926E-2F8C-4041-A5C0-241EFB34BFC0}" type="presOf" srcId="{786A3024-F7F0-4A88-94F1-9D6319E4D6FF}" destId="{06CE647C-7E0B-4E0B-AF7F-4A238CDD1C41}" srcOrd="0" destOrd="0" presId="urn:microsoft.com/office/officeart/2016/7/layout/LinearBlockProcessNumbered"/>
    <dgm:cxn modelId="{7E901251-EDD9-4607-9E64-DB5231CBE94B}" type="presOf" srcId="{A9D8AACB-779E-406F-9D1A-7AEB02EC9F6B}" destId="{3F37E925-A0A4-4044-90BF-9DBF34D45FF9}" srcOrd="1" destOrd="0" presId="urn:microsoft.com/office/officeart/2016/7/layout/LinearBlockProcessNumbered"/>
    <dgm:cxn modelId="{B3AE2A52-652A-4405-9531-426A7099C894}" srcId="{9B7FFCF4-A712-4B25-9CEF-DA0A49FDFE37}" destId="{7C9EE584-DACD-470D-B8D1-3AD881C0C3D1}" srcOrd="2" destOrd="0" parTransId="{F7F34569-865E-4F20-89CF-B123D9715FB2}" sibTransId="{684D674E-FC04-49A4-9D41-305EECBD6889}"/>
    <dgm:cxn modelId="{C2395456-9ED9-4266-9CFF-AF71C7BFF018}" type="presOf" srcId="{2D0D05ED-3B4C-437A-ABD9-587335D533CD}" destId="{FDC4D56F-A32C-4205-8390-0F322D54C36A}" srcOrd="1" destOrd="0" presId="urn:microsoft.com/office/officeart/2016/7/layout/LinearBlockProcessNumbered"/>
    <dgm:cxn modelId="{B5C64D79-F129-42E5-9353-7FEEAB6DA777}" type="presOf" srcId="{59AEE650-EE65-439C-9760-3EEFAA3953CF}" destId="{27EDD09A-4BDE-4CAE-AFD6-1872BF2D0143}" srcOrd="1" destOrd="0" presId="urn:microsoft.com/office/officeart/2016/7/layout/LinearBlockProcessNumbered"/>
    <dgm:cxn modelId="{FD47A880-8182-4543-980D-7C138ACD0A62}" type="presOf" srcId="{2D0D05ED-3B4C-437A-ABD9-587335D533CD}" destId="{978F745C-A11B-4867-B6D2-A914FE684889}" srcOrd="0" destOrd="0" presId="urn:microsoft.com/office/officeart/2016/7/layout/LinearBlockProcessNumbered"/>
    <dgm:cxn modelId="{F1E6229A-BFB0-435E-8732-88CB32C07943}" srcId="{9B7FFCF4-A712-4B25-9CEF-DA0A49FDFE37}" destId="{2D0D05ED-3B4C-437A-ABD9-587335D533CD}" srcOrd="0" destOrd="0" parTransId="{01A0A2CE-EF31-4DE0-A419-C8ED62E447B7}" sibTransId="{A371393C-F91D-4227-8936-F17C50BDDA37}"/>
    <dgm:cxn modelId="{7CFF799F-6F21-475C-94F4-3D46B2DAD781}" type="presOf" srcId="{684D674E-FC04-49A4-9D41-305EECBD6889}" destId="{4C8170B7-5F27-4C96-80FA-6C5AC08B9061}" srcOrd="0" destOrd="0" presId="urn:microsoft.com/office/officeart/2016/7/layout/LinearBlockProcessNumbered"/>
    <dgm:cxn modelId="{AEBD33AA-411A-49CC-B449-3A7CE2BC3C7C}" type="presOf" srcId="{A371393C-F91D-4227-8936-F17C50BDDA37}" destId="{93353CF3-113E-442A-B4A6-7177763056EB}" srcOrd="0" destOrd="0" presId="urn:microsoft.com/office/officeart/2016/7/layout/LinearBlockProcessNumbered"/>
    <dgm:cxn modelId="{BFA77BD2-5B70-4AA0-A6BE-6C6B249BDB8A}" type="presOf" srcId="{59AEE650-EE65-439C-9760-3EEFAA3953CF}" destId="{474EB3CB-57D5-4752-B4CD-98C374282204}" srcOrd="0" destOrd="0" presId="urn:microsoft.com/office/officeart/2016/7/layout/LinearBlockProcessNumbered"/>
    <dgm:cxn modelId="{E2E16EF5-B5A2-42B5-9836-764DE767146B}" srcId="{9B7FFCF4-A712-4B25-9CEF-DA0A49FDFE37}" destId="{59AEE650-EE65-439C-9760-3EEFAA3953CF}" srcOrd="1" destOrd="0" parTransId="{E5F73777-F0DC-4403-BE36-76D739A02128}" sibTransId="{BD533213-D9F9-4D33-983A-A2937EED00B3}"/>
    <dgm:cxn modelId="{48FB9AF7-7169-4191-AD1A-07CB671F3C1C}" type="presOf" srcId="{9B7FFCF4-A712-4B25-9CEF-DA0A49FDFE37}" destId="{44A67F98-FFFC-4B11-9711-7F47C81B7635}" srcOrd="0" destOrd="0" presId="urn:microsoft.com/office/officeart/2016/7/layout/LinearBlockProcessNumbered"/>
    <dgm:cxn modelId="{41131EFA-8ADC-4B31-8782-87A9321013B1}" srcId="{9B7FFCF4-A712-4B25-9CEF-DA0A49FDFE37}" destId="{A9D8AACB-779E-406F-9D1A-7AEB02EC9F6B}" srcOrd="3" destOrd="0" parTransId="{B9D7C516-073E-44A9-9EAA-4ED3269CDD50}" sibTransId="{786A3024-F7F0-4A88-94F1-9D6319E4D6FF}"/>
    <dgm:cxn modelId="{CBE394A2-2848-4DB2-A5C3-A1EB1F1D04A9}" type="presParOf" srcId="{44A67F98-FFFC-4B11-9711-7F47C81B7635}" destId="{BBA97E58-9820-453D-9914-F3638C5CFE87}" srcOrd="0" destOrd="0" presId="urn:microsoft.com/office/officeart/2016/7/layout/LinearBlockProcessNumbered"/>
    <dgm:cxn modelId="{75B33EF3-40D5-4FE5-8EC2-15DA3657A92F}" type="presParOf" srcId="{BBA97E58-9820-453D-9914-F3638C5CFE87}" destId="{978F745C-A11B-4867-B6D2-A914FE684889}" srcOrd="0" destOrd="0" presId="urn:microsoft.com/office/officeart/2016/7/layout/LinearBlockProcessNumbered"/>
    <dgm:cxn modelId="{D1EC8984-A603-43FC-B742-06BBBE8C4C28}" type="presParOf" srcId="{BBA97E58-9820-453D-9914-F3638C5CFE87}" destId="{93353CF3-113E-442A-B4A6-7177763056EB}" srcOrd="1" destOrd="0" presId="urn:microsoft.com/office/officeart/2016/7/layout/LinearBlockProcessNumbered"/>
    <dgm:cxn modelId="{7F686AD4-F386-4BE2-B93E-FB4839AFB2E6}" type="presParOf" srcId="{BBA97E58-9820-453D-9914-F3638C5CFE87}" destId="{FDC4D56F-A32C-4205-8390-0F322D54C36A}" srcOrd="2" destOrd="0" presId="urn:microsoft.com/office/officeart/2016/7/layout/LinearBlockProcessNumbered"/>
    <dgm:cxn modelId="{4613EFA5-0325-4672-BF2C-EDFDF203E184}" type="presParOf" srcId="{44A67F98-FFFC-4B11-9711-7F47C81B7635}" destId="{0BA282BF-4B73-481C-8043-7CC0E0D35CD6}" srcOrd="1" destOrd="0" presId="urn:microsoft.com/office/officeart/2016/7/layout/LinearBlockProcessNumbered"/>
    <dgm:cxn modelId="{DC2087B2-D332-4719-BF54-C3F1495984F2}" type="presParOf" srcId="{44A67F98-FFFC-4B11-9711-7F47C81B7635}" destId="{64CFCC99-3CC0-4D79-9CD9-4C07C534B964}" srcOrd="2" destOrd="0" presId="urn:microsoft.com/office/officeart/2016/7/layout/LinearBlockProcessNumbered"/>
    <dgm:cxn modelId="{7CDC2347-5C1F-4A03-8482-764B8AFB323E}" type="presParOf" srcId="{64CFCC99-3CC0-4D79-9CD9-4C07C534B964}" destId="{474EB3CB-57D5-4752-B4CD-98C374282204}" srcOrd="0" destOrd="0" presId="urn:microsoft.com/office/officeart/2016/7/layout/LinearBlockProcessNumbered"/>
    <dgm:cxn modelId="{68BC873B-BEC5-45A9-8E5F-321B85FCB9DD}" type="presParOf" srcId="{64CFCC99-3CC0-4D79-9CD9-4C07C534B964}" destId="{8A8D600E-893B-47CD-957B-D7B49F140DAB}" srcOrd="1" destOrd="0" presId="urn:microsoft.com/office/officeart/2016/7/layout/LinearBlockProcessNumbered"/>
    <dgm:cxn modelId="{4E2979A6-7074-4B07-81B8-AEFB31F1EF79}" type="presParOf" srcId="{64CFCC99-3CC0-4D79-9CD9-4C07C534B964}" destId="{27EDD09A-4BDE-4CAE-AFD6-1872BF2D0143}" srcOrd="2" destOrd="0" presId="urn:microsoft.com/office/officeart/2016/7/layout/LinearBlockProcessNumbered"/>
    <dgm:cxn modelId="{ABC326FC-DD98-4866-9943-1C9BF7033FDD}" type="presParOf" srcId="{44A67F98-FFFC-4B11-9711-7F47C81B7635}" destId="{6A028D7E-9641-4598-92FE-D590935AE5DF}" srcOrd="3" destOrd="0" presId="urn:microsoft.com/office/officeart/2016/7/layout/LinearBlockProcessNumbered"/>
    <dgm:cxn modelId="{538F64B4-DED9-494C-B710-010317357F68}" type="presParOf" srcId="{44A67F98-FFFC-4B11-9711-7F47C81B7635}" destId="{E4557E87-2FA4-49F8-A6D0-BA32ACE9969A}" srcOrd="4" destOrd="0" presId="urn:microsoft.com/office/officeart/2016/7/layout/LinearBlockProcessNumbered"/>
    <dgm:cxn modelId="{E15B9C24-DD2D-45E5-A74B-352C48581778}" type="presParOf" srcId="{E4557E87-2FA4-49F8-A6D0-BA32ACE9969A}" destId="{272E5FED-9FC2-4C82-ADB4-8B5BB12DD258}" srcOrd="0" destOrd="0" presId="urn:microsoft.com/office/officeart/2016/7/layout/LinearBlockProcessNumbered"/>
    <dgm:cxn modelId="{E151A2F3-01EC-44F1-8CB3-C91B068BAB9F}" type="presParOf" srcId="{E4557E87-2FA4-49F8-A6D0-BA32ACE9969A}" destId="{4C8170B7-5F27-4C96-80FA-6C5AC08B9061}" srcOrd="1" destOrd="0" presId="urn:microsoft.com/office/officeart/2016/7/layout/LinearBlockProcessNumbered"/>
    <dgm:cxn modelId="{98244756-A0B8-4260-A0A6-031795951352}" type="presParOf" srcId="{E4557E87-2FA4-49F8-A6D0-BA32ACE9969A}" destId="{7436FE46-981A-44E7-92CC-278FA472AE3B}" srcOrd="2" destOrd="0" presId="urn:microsoft.com/office/officeart/2016/7/layout/LinearBlockProcessNumbered"/>
    <dgm:cxn modelId="{77DC9E89-BEF7-42FF-B36D-0BD7E8BCAA70}" type="presParOf" srcId="{44A67F98-FFFC-4B11-9711-7F47C81B7635}" destId="{1F49321F-C521-45A9-B942-5506983C975E}" srcOrd="5" destOrd="0" presId="urn:microsoft.com/office/officeart/2016/7/layout/LinearBlockProcessNumbered"/>
    <dgm:cxn modelId="{B638E7AA-4F38-4FE8-AFC8-0279536DFC67}" type="presParOf" srcId="{44A67F98-FFFC-4B11-9711-7F47C81B7635}" destId="{7E29E668-2E72-4FF9-AF3C-6C3301F74F2F}" srcOrd="6" destOrd="0" presId="urn:microsoft.com/office/officeart/2016/7/layout/LinearBlockProcessNumbered"/>
    <dgm:cxn modelId="{2A935D35-CC47-412D-8B51-7F3F3F64B536}" type="presParOf" srcId="{7E29E668-2E72-4FF9-AF3C-6C3301F74F2F}" destId="{F065A9F9-8F2B-4FAB-812C-ED12B263C11D}" srcOrd="0" destOrd="0" presId="urn:microsoft.com/office/officeart/2016/7/layout/LinearBlockProcessNumbered"/>
    <dgm:cxn modelId="{57251797-CCB6-4BE2-B1F9-79AC6A74B222}" type="presParOf" srcId="{7E29E668-2E72-4FF9-AF3C-6C3301F74F2F}" destId="{06CE647C-7E0B-4E0B-AF7F-4A238CDD1C41}" srcOrd="1" destOrd="0" presId="urn:microsoft.com/office/officeart/2016/7/layout/LinearBlockProcessNumbered"/>
    <dgm:cxn modelId="{0F8051C1-B809-47A8-B5BF-31FF14000652}" type="presParOf" srcId="{7E29E668-2E72-4FF9-AF3C-6C3301F74F2F}" destId="{3F37E925-A0A4-4044-90BF-9DBF34D45FF9}"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BE790B-F976-40D8-BEA2-644EAC8F89D8}">
      <dsp:nvSpPr>
        <dsp:cNvPr id="0" name=""/>
        <dsp:cNvSpPr/>
      </dsp:nvSpPr>
      <dsp:spPr>
        <a:xfrm>
          <a:off x="0" y="364959"/>
          <a:ext cx="11155680" cy="1377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B7DA0-7D7F-4D50-B214-B0C4DDFE2067}">
      <dsp:nvSpPr>
        <dsp:cNvPr id="0" name=""/>
        <dsp:cNvSpPr/>
      </dsp:nvSpPr>
      <dsp:spPr>
        <a:xfrm>
          <a:off x="416672" y="674881"/>
          <a:ext cx="757586" cy="757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65ABD8-6385-4AE3-8C6E-25C8E83F6114}">
      <dsp:nvSpPr>
        <dsp:cNvPr id="0" name=""/>
        <dsp:cNvSpPr/>
      </dsp:nvSpPr>
      <dsp:spPr>
        <a:xfrm>
          <a:off x="1590930" y="364959"/>
          <a:ext cx="9564749" cy="1377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78" tIns="145778" rIns="145778" bIns="145778" numCol="1" spcCol="1270" anchor="ctr" anchorCtr="0">
          <a:noAutofit/>
        </a:bodyPr>
        <a:lstStyle/>
        <a:p>
          <a:pPr marL="0" lvl="0" indent="0" algn="l" defTabSz="622300">
            <a:lnSpc>
              <a:spcPct val="100000"/>
            </a:lnSpc>
            <a:spcBef>
              <a:spcPct val="0"/>
            </a:spcBef>
            <a:spcAft>
              <a:spcPct val="35000"/>
            </a:spcAft>
            <a:buNone/>
          </a:pPr>
          <a:r>
            <a:rPr lang="en-US" sz="1400" kern="1200"/>
            <a:t>A study conducted by Elvas et al. (2025) demonstrates significant progress in the application of ML and DL techniques for the classification, prediction, and diagnosis of Cardiovascular diseases. Models such as DLSE and Neural Networks were employed, achieving remarkable accuracy exceeding 95%. However, this study prioritizes accuracy-based metrics without addressing computational efficiency or real-world scalability.</a:t>
          </a:r>
        </a:p>
      </dsp:txBody>
      <dsp:txXfrm>
        <a:off x="1590930" y="364959"/>
        <a:ext cx="9564749" cy="1377429"/>
      </dsp:txXfrm>
    </dsp:sp>
    <dsp:sp modelId="{FB53331D-7614-4A69-BC57-C8FAF056CEC8}">
      <dsp:nvSpPr>
        <dsp:cNvPr id="0" name=""/>
        <dsp:cNvSpPr/>
      </dsp:nvSpPr>
      <dsp:spPr>
        <a:xfrm>
          <a:off x="0" y="2024938"/>
          <a:ext cx="11155680" cy="137742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411436-FD3F-4C80-A8AB-49D949978658}">
      <dsp:nvSpPr>
        <dsp:cNvPr id="0" name=""/>
        <dsp:cNvSpPr/>
      </dsp:nvSpPr>
      <dsp:spPr>
        <a:xfrm>
          <a:off x="416672" y="2334860"/>
          <a:ext cx="757586" cy="757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5323FA-B201-4726-8C09-01556E8882B4}">
      <dsp:nvSpPr>
        <dsp:cNvPr id="0" name=""/>
        <dsp:cNvSpPr/>
      </dsp:nvSpPr>
      <dsp:spPr>
        <a:xfrm>
          <a:off x="1590930" y="2024938"/>
          <a:ext cx="9564749" cy="13774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78" tIns="145778" rIns="145778" bIns="145778" numCol="1" spcCol="1270" anchor="ctr" anchorCtr="0">
          <a:noAutofit/>
        </a:bodyPr>
        <a:lstStyle/>
        <a:p>
          <a:pPr marL="0" lvl="0" indent="0" algn="l" defTabSz="622300">
            <a:lnSpc>
              <a:spcPct val="100000"/>
            </a:lnSpc>
            <a:spcBef>
              <a:spcPct val="0"/>
            </a:spcBef>
            <a:spcAft>
              <a:spcPct val="35000"/>
            </a:spcAft>
            <a:buNone/>
          </a:pPr>
          <a:r>
            <a:rPr lang="en-US" sz="1400" kern="1200"/>
            <a:t>Another innovative study by G. H. G. et al. (2025) presents a wearable, real-time cardiac monitoring system capable of detecting and responding to critical cardiovascular anomalies. The system incorporates biosensors, hydrostatic pressure sensors, and bioelectrical impedance analysis (BIA) to measure key cardiovascular parameters—including heart rate, ECG signals, and blood oxygen saturation. Despite these advancements, issues relating to data accuracy, system scalability and privacy standards persist.</a:t>
          </a:r>
        </a:p>
      </dsp:txBody>
      <dsp:txXfrm>
        <a:off x="1590930" y="2024938"/>
        <a:ext cx="9564749" cy="13774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85AD5B-E2B2-4EAF-8135-3D4ABFB112D6}">
      <dsp:nvSpPr>
        <dsp:cNvPr id="0" name=""/>
        <dsp:cNvSpPr/>
      </dsp:nvSpPr>
      <dsp:spPr>
        <a:xfrm>
          <a:off x="0" y="612190"/>
          <a:ext cx="11155680" cy="11301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36AF96-A5B5-433B-9BC9-EA74482DBA7E}">
      <dsp:nvSpPr>
        <dsp:cNvPr id="0" name=""/>
        <dsp:cNvSpPr/>
      </dsp:nvSpPr>
      <dsp:spPr>
        <a:xfrm>
          <a:off x="341885" y="866485"/>
          <a:ext cx="621609" cy="6216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703681-4EC5-447C-9017-2E493A671ED9}">
      <dsp:nvSpPr>
        <dsp:cNvPr id="0" name=""/>
        <dsp:cNvSpPr/>
      </dsp:nvSpPr>
      <dsp:spPr>
        <a:xfrm>
          <a:off x="1305379" y="612190"/>
          <a:ext cx="9850300" cy="1130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13" tIns="119613" rIns="119613" bIns="119613" numCol="1" spcCol="1270" anchor="ctr" anchorCtr="0">
          <a:noAutofit/>
        </a:bodyPr>
        <a:lstStyle/>
        <a:p>
          <a:pPr marL="0" lvl="0" indent="0" algn="l" defTabSz="622300">
            <a:lnSpc>
              <a:spcPct val="100000"/>
            </a:lnSpc>
            <a:spcBef>
              <a:spcPct val="0"/>
            </a:spcBef>
            <a:spcAft>
              <a:spcPct val="35000"/>
            </a:spcAft>
            <a:buNone/>
          </a:pPr>
          <a:r>
            <a:rPr lang="en-US" sz="1400" kern="1200"/>
            <a:t>Erdene et Saver (2021) demonstrate the significance of wireless sensors and AI-based recognition systems in a continuous, real-time stroke detection study. This system can monitor motion, speech, gait, and sensory changes that may indicate early signs of stroke onset. However, further translational research is needed to validate their performance, ensure data reliability, and establish a clinical protocol for real-world use.</a:t>
          </a:r>
        </a:p>
      </dsp:txBody>
      <dsp:txXfrm>
        <a:off x="1305379" y="612190"/>
        <a:ext cx="9850300" cy="1130198"/>
      </dsp:txXfrm>
    </dsp:sp>
    <dsp:sp modelId="{8E13DA0A-0ECD-43CC-8AB4-305F92E5E908}">
      <dsp:nvSpPr>
        <dsp:cNvPr id="0" name=""/>
        <dsp:cNvSpPr/>
      </dsp:nvSpPr>
      <dsp:spPr>
        <a:xfrm>
          <a:off x="0" y="2024938"/>
          <a:ext cx="11155680" cy="113019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951607-167C-456F-BAD3-3550CFD274E5}">
      <dsp:nvSpPr>
        <dsp:cNvPr id="0" name=""/>
        <dsp:cNvSpPr/>
      </dsp:nvSpPr>
      <dsp:spPr>
        <a:xfrm>
          <a:off x="341885" y="2279233"/>
          <a:ext cx="621609" cy="6216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EC5E8E-31E3-47E2-8841-644847F4B0A9}">
      <dsp:nvSpPr>
        <dsp:cNvPr id="0" name=""/>
        <dsp:cNvSpPr/>
      </dsp:nvSpPr>
      <dsp:spPr>
        <a:xfrm>
          <a:off x="1305379" y="2024938"/>
          <a:ext cx="9850300" cy="1130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613" tIns="119613" rIns="119613" bIns="119613" numCol="1" spcCol="1270" anchor="ctr" anchorCtr="0">
          <a:noAutofit/>
        </a:bodyPr>
        <a:lstStyle/>
        <a:p>
          <a:pPr marL="0" lvl="0" indent="0" algn="l" defTabSz="622300">
            <a:lnSpc>
              <a:spcPct val="100000"/>
            </a:lnSpc>
            <a:spcBef>
              <a:spcPct val="0"/>
            </a:spcBef>
            <a:spcAft>
              <a:spcPct val="35000"/>
            </a:spcAft>
            <a:buNone/>
          </a:pPr>
          <a:r>
            <a:rPr lang="en-US" sz="1400" kern="1200"/>
            <a:t>Another study by A. K et al. (2024) have shown that the tree-based algorithms and SVM are effective in CVD prediction due to their ability to handle non-linear interactions among Cardiovascular risk factors. This literature underscores the potential of AI-powered health platforms to revolutionize patient care through continuous monitoring, personalized insights, and proactive disease management.</a:t>
          </a:r>
        </a:p>
      </dsp:txBody>
      <dsp:txXfrm>
        <a:off x="1305379" y="2024938"/>
        <a:ext cx="9850300" cy="11301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8F745C-A11B-4867-B6D2-A914FE684889}">
      <dsp:nvSpPr>
        <dsp:cNvPr id="0" name=""/>
        <dsp:cNvSpPr/>
      </dsp:nvSpPr>
      <dsp:spPr>
        <a:xfrm>
          <a:off x="169" y="654352"/>
          <a:ext cx="2048693" cy="245843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365" tIns="0" rIns="202365" bIns="330200" numCol="1" spcCol="1270" anchor="t" anchorCtr="0">
          <a:noAutofit/>
        </a:bodyPr>
        <a:lstStyle/>
        <a:p>
          <a:pPr marL="0" lvl="0" indent="0" algn="l" defTabSz="488950">
            <a:lnSpc>
              <a:spcPct val="90000"/>
            </a:lnSpc>
            <a:spcBef>
              <a:spcPct val="0"/>
            </a:spcBef>
            <a:spcAft>
              <a:spcPct val="35000"/>
            </a:spcAft>
            <a:buNone/>
          </a:pPr>
          <a:r>
            <a:rPr lang="en-US" sz="1100" kern="1200" dirty="0"/>
            <a:t>1. Logistic Regression: A good and computationally efficient baseline model for binary classification tasks. </a:t>
          </a:r>
        </a:p>
      </dsp:txBody>
      <dsp:txXfrm>
        <a:off x="169" y="1637725"/>
        <a:ext cx="2048693" cy="1475059"/>
      </dsp:txXfrm>
    </dsp:sp>
    <dsp:sp modelId="{93353CF3-113E-442A-B4A6-7177763056EB}">
      <dsp:nvSpPr>
        <dsp:cNvPr id="0" name=""/>
        <dsp:cNvSpPr/>
      </dsp:nvSpPr>
      <dsp:spPr>
        <a:xfrm>
          <a:off x="169" y="654352"/>
          <a:ext cx="2048693" cy="98337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365" tIns="165100" rIns="202365" bIns="165100" numCol="1" spcCol="1270" anchor="ctr" anchorCtr="0">
          <a:noAutofit/>
        </a:bodyPr>
        <a:lstStyle/>
        <a:p>
          <a:pPr marL="0" lvl="0" indent="0" algn="l" defTabSz="2089150">
            <a:lnSpc>
              <a:spcPct val="90000"/>
            </a:lnSpc>
            <a:spcBef>
              <a:spcPct val="0"/>
            </a:spcBef>
            <a:spcAft>
              <a:spcPct val="35000"/>
            </a:spcAft>
            <a:buNone/>
          </a:pPr>
          <a:r>
            <a:rPr lang="en-US" sz="4700" kern="1200"/>
            <a:t>01</a:t>
          </a:r>
        </a:p>
      </dsp:txBody>
      <dsp:txXfrm>
        <a:off x="169" y="654352"/>
        <a:ext cx="2048693" cy="983372"/>
      </dsp:txXfrm>
    </dsp:sp>
    <dsp:sp modelId="{474EB3CB-57D5-4752-B4CD-98C374282204}">
      <dsp:nvSpPr>
        <dsp:cNvPr id="0" name=""/>
        <dsp:cNvSpPr/>
      </dsp:nvSpPr>
      <dsp:spPr>
        <a:xfrm>
          <a:off x="2212758" y="654352"/>
          <a:ext cx="2048693" cy="2458432"/>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365" tIns="0" rIns="202365" bIns="330200" numCol="1" spcCol="1270" anchor="t" anchorCtr="0">
          <a:noAutofit/>
        </a:bodyPr>
        <a:lstStyle/>
        <a:p>
          <a:pPr marL="0" lvl="0" indent="0" algn="l" defTabSz="488950">
            <a:lnSpc>
              <a:spcPct val="90000"/>
            </a:lnSpc>
            <a:spcBef>
              <a:spcPct val="0"/>
            </a:spcBef>
            <a:spcAft>
              <a:spcPct val="35000"/>
            </a:spcAft>
            <a:buNone/>
          </a:pPr>
          <a:r>
            <a:rPr lang="en-US" sz="1100" kern="1200"/>
            <a:t>2. Decision Trees:  A simple ensemble algorithm noted for capturing non-linear relationships between features.</a:t>
          </a:r>
        </a:p>
      </dsp:txBody>
      <dsp:txXfrm>
        <a:off x="2212758" y="1637725"/>
        <a:ext cx="2048693" cy="1475059"/>
      </dsp:txXfrm>
    </dsp:sp>
    <dsp:sp modelId="{8A8D600E-893B-47CD-957B-D7B49F140DAB}">
      <dsp:nvSpPr>
        <dsp:cNvPr id="0" name=""/>
        <dsp:cNvSpPr/>
      </dsp:nvSpPr>
      <dsp:spPr>
        <a:xfrm>
          <a:off x="2212758" y="654352"/>
          <a:ext cx="2048693" cy="98337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365" tIns="165100" rIns="202365"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12758" y="654352"/>
        <a:ext cx="2048693" cy="983372"/>
      </dsp:txXfrm>
    </dsp:sp>
    <dsp:sp modelId="{272E5FED-9FC2-4C82-ADB4-8B5BB12DD258}">
      <dsp:nvSpPr>
        <dsp:cNvPr id="0" name=""/>
        <dsp:cNvSpPr/>
      </dsp:nvSpPr>
      <dsp:spPr>
        <a:xfrm>
          <a:off x="4425347" y="654352"/>
          <a:ext cx="2048693" cy="2458432"/>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365" tIns="0" rIns="202365" bIns="330200" numCol="1" spcCol="1270" anchor="t" anchorCtr="0">
          <a:noAutofit/>
        </a:bodyPr>
        <a:lstStyle/>
        <a:p>
          <a:pPr marL="0" lvl="0" indent="0" algn="l" defTabSz="488950">
            <a:lnSpc>
              <a:spcPct val="90000"/>
            </a:lnSpc>
            <a:spcBef>
              <a:spcPct val="0"/>
            </a:spcBef>
            <a:spcAft>
              <a:spcPct val="35000"/>
            </a:spcAft>
            <a:buNone/>
          </a:pPr>
          <a:r>
            <a:rPr lang="en-US" sz="1100" kern="1200"/>
            <a:t>3. Random Forest: An ensemble method that combines multiple decision trees. This often leads to improved accuracy and robustness compared to a single decision tree.           </a:t>
          </a:r>
        </a:p>
      </dsp:txBody>
      <dsp:txXfrm>
        <a:off x="4425347" y="1637725"/>
        <a:ext cx="2048693" cy="1475059"/>
      </dsp:txXfrm>
    </dsp:sp>
    <dsp:sp modelId="{4C8170B7-5F27-4C96-80FA-6C5AC08B9061}">
      <dsp:nvSpPr>
        <dsp:cNvPr id="0" name=""/>
        <dsp:cNvSpPr/>
      </dsp:nvSpPr>
      <dsp:spPr>
        <a:xfrm>
          <a:off x="4425347" y="654352"/>
          <a:ext cx="2048693" cy="98337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365" tIns="165100" rIns="202365"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25347" y="654352"/>
        <a:ext cx="2048693" cy="983372"/>
      </dsp:txXfrm>
    </dsp:sp>
    <dsp:sp modelId="{F065A9F9-8F2B-4FAB-812C-ED12B263C11D}">
      <dsp:nvSpPr>
        <dsp:cNvPr id="0" name=""/>
        <dsp:cNvSpPr/>
      </dsp:nvSpPr>
      <dsp:spPr>
        <a:xfrm>
          <a:off x="6637936" y="654352"/>
          <a:ext cx="2048693" cy="2458432"/>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365" tIns="0" rIns="202365" bIns="330200" numCol="1" spcCol="1270" anchor="t" anchorCtr="0">
          <a:noAutofit/>
        </a:bodyPr>
        <a:lstStyle/>
        <a:p>
          <a:pPr marL="0" lvl="0" indent="0" algn="l" defTabSz="488950">
            <a:lnSpc>
              <a:spcPct val="90000"/>
            </a:lnSpc>
            <a:spcBef>
              <a:spcPct val="0"/>
            </a:spcBef>
            <a:spcAft>
              <a:spcPct val="35000"/>
            </a:spcAft>
            <a:buNone/>
          </a:pPr>
          <a:r>
            <a:rPr lang="en-US" sz="1100" kern="1200"/>
            <a:t>4. Extreme Gradient Boosting: A gradient boosting algorithm known for its high performance and ability to handle complex datasets.</a:t>
          </a:r>
        </a:p>
      </dsp:txBody>
      <dsp:txXfrm>
        <a:off x="6637936" y="1637725"/>
        <a:ext cx="2048693" cy="1475059"/>
      </dsp:txXfrm>
    </dsp:sp>
    <dsp:sp modelId="{06CE647C-7E0B-4E0B-AF7F-4A238CDD1C41}">
      <dsp:nvSpPr>
        <dsp:cNvPr id="0" name=""/>
        <dsp:cNvSpPr/>
      </dsp:nvSpPr>
      <dsp:spPr>
        <a:xfrm>
          <a:off x="6637936" y="654352"/>
          <a:ext cx="2048693" cy="983372"/>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365" tIns="165100" rIns="202365"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637936" y="654352"/>
        <a:ext cx="2048693" cy="98337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01590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71776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6107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41731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04117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92108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53847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10046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9401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8566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12/4/2025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4112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12/4/2025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0532145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3" name="Picture 12">
            <a:extLst>
              <a:ext uri="{FF2B5EF4-FFF2-40B4-BE49-F238E27FC236}">
                <a16:creationId xmlns:a16="http://schemas.microsoft.com/office/drawing/2014/main" id="{7C91F1E9-E640-2654-09D6-22468AB9B430}"/>
              </a:ext>
            </a:extLst>
          </p:cNvPr>
          <p:cNvPicPr>
            <a:picLocks noChangeAspect="1"/>
          </p:cNvPicPr>
          <p:nvPr/>
        </p:nvPicPr>
        <p:blipFill>
          <a:blip r:embed="rId2"/>
          <a:srcRect l="9091" t="4401" b="22807"/>
          <a:stretch>
            <a:fillRect/>
          </a:stretch>
        </p:blipFill>
        <p:spPr>
          <a:xfrm>
            <a:off x="0" y="-38764"/>
            <a:ext cx="12191980" cy="544594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73E5647D-FCBA-9C50-003A-DFC578D6045C}"/>
              </a:ext>
            </a:extLst>
          </p:cNvPr>
          <p:cNvSpPr>
            <a:spLocks noGrp="1"/>
          </p:cNvSpPr>
          <p:nvPr>
            <p:ph type="ctrTitle"/>
          </p:nvPr>
        </p:nvSpPr>
        <p:spPr>
          <a:xfrm>
            <a:off x="82446" y="232349"/>
            <a:ext cx="12109534" cy="2451857"/>
          </a:xfrm>
          <a:ln>
            <a:noFill/>
          </a:ln>
        </p:spPr>
        <p:txBody>
          <a:bodyPr anchor="ctr">
            <a:normAutofit/>
          </a:bodyPr>
          <a:lstStyle/>
          <a:p>
            <a:pPr algn="ctr">
              <a:lnSpc>
                <a:spcPct val="90000"/>
              </a:lnSpc>
            </a:pPr>
            <a:r>
              <a:rPr lang="en-US" sz="3200" dirty="0">
                <a:solidFill>
                  <a:schemeClr val="bg2"/>
                </a:solidFill>
                <a:latin typeface="Times New Roman" panose="02020603050405020304" pitchFamily="18" charset="0"/>
                <a:cs typeface="Times New Roman" panose="02020603050405020304" pitchFamily="18" charset="0"/>
              </a:rPr>
              <a:t>SAT 5141</a:t>
            </a:r>
            <a:br>
              <a:rPr lang="en-US" sz="3200" dirty="0">
                <a:solidFill>
                  <a:schemeClr val="bg2"/>
                </a:solidFill>
                <a:latin typeface="Times New Roman" panose="02020603050405020304" pitchFamily="18" charset="0"/>
                <a:cs typeface="Times New Roman" panose="02020603050405020304" pitchFamily="18" charset="0"/>
              </a:rPr>
            </a:br>
            <a:r>
              <a:rPr lang="en-US" sz="3200" dirty="0">
                <a:solidFill>
                  <a:schemeClr val="bg2"/>
                </a:solidFill>
                <a:latin typeface="Times New Roman" panose="02020603050405020304" pitchFamily="18" charset="0"/>
                <a:cs typeface="Times New Roman" panose="02020603050405020304" pitchFamily="18" charset="0"/>
              </a:rPr>
              <a:t>AI-Powered </a:t>
            </a:r>
            <a:r>
              <a:rPr lang="en-US" sz="3200">
                <a:solidFill>
                  <a:schemeClr val="bg2"/>
                </a:solidFill>
                <a:latin typeface="Times New Roman" panose="02020603050405020304" pitchFamily="18" charset="0"/>
                <a:cs typeface="Times New Roman" panose="02020603050405020304" pitchFamily="18" charset="0"/>
              </a:rPr>
              <a:t>System for Early </a:t>
            </a:r>
            <a:r>
              <a:rPr lang="en-US" sz="3200" dirty="0">
                <a:solidFill>
                  <a:schemeClr val="bg2"/>
                </a:solidFill>
                <a:latin typeface="Times New Roman" panose="02020603050405020304" pitchFamily="18" charset="0"/>
                <a:cs typeface="Times New Roman" panose="02020603050405020304" pitchFamily="18" charset="0"/>
              </a:rPr>
              <a:t>Detection of Cardiovascular Events</a:t>
            </a:r>
            <a:br>
              <a:rPr lang="en-US" sz="2100" b="1" dirty="0"/>
            </a:br>
            <a:endParaRPr lang="en-US" sz="2100" dirty="0"/>
          </a:p>
        </p:txBody>
      </p:sp>
      <p:sp>
        <p:nvSpPr>
          <p:cNvPr id="3" name="Subtitle 2">
            <a:extLst>
              <a:ext uri="{FF2B5EF4-FFF2-40B4-BE49-F238E27FC236}">
                <a16:creationId xmlns:a16="http://schemas.microsoft.com/office/drawing/2014/main" id="{6C7F8D71-23D8-1F39-0BAE-759494D3B3A8}"/>
              </a:ext>
            </a:extLst>
          </p:cNvPr>
          <p:cNvSpPr>
            <a:spLocks noGrp="1"/>
          </p:cNvSpPr>
          <p:nvPr>
            <p:ph type="subTitle" idx="1"/>
          </p:nvPr>
        </p:nvSpPr>
        <p:spPr>
          <a:xfrm>
            <a:off x="3935456" y="2308860"/>
            <a:ext cx="3355309" cy="960120"/>
          </a:xfrm>
        </p:spPr>
        <p:txBody>
          <a:bodyPr anchor="ctr">
            <a:normAutofit fontScale="70000" lnSpcReduction="20000"/>
          </a:bodyPr>
          <a:lstStyle/>
          <a:p>
            <a:pPr algn="ctr"/>
            <a:r>
              <a:rPr lang="en-US" sz="1900" b="1" i="0" dirty="0">
                <a:solidFill>
                  <a:schemeClr val="bg1"/>
                </a:solidFill>
                <a:latin typeface="Times New Roman" panose="02020603050405020304" pitchFamily="18" charset="0"/>
                <a:cs typeface="Times New Roman" panose="02020603050405020304" pitchFamily="18" charset="0"/>
              </a:rPr>
              <a:t>Group 16</a:t>
            </a:r>
          </a:p>
          <a:p>
            <a:pPr algn="ctr"/>
            <a:r>
              <a:rPr lang="en-US" sz="1900" b="1" i="0" dirty="0">
                <a:solidFill>
                  <a:schemeClr val="bg1"/>
                </a:solidFill>
                <a:latin typeface="Times New Roman" panose="02020603050405020304" pitchFamily="18" charset="0"/>
                <a:cs typeface="Times New Roman" panose="02020603050405020304" pitchFamily="18" charset="0"/>
              </a:rPr>
              <a:t>Gideon Owusu</a:t>
            </a:r>
          </a:p>
          <a:p>
            <a:pPr algn="ctr"/>
            <a:r>
              <a:rPr lang="en-US" sz="1900" b="1" i="0" dirty="0">
                <a:solidFill>
                  <a:schemeClr val="bg1"/>
                </a:solidFill>
                <a:latin typeface="Times New Roman" panose="02020603050405020304" pitchFamily="18" charset="0"/>
                <a:cs typeface="Times New Roman" panose="02020603050405020304" pitchFamily="18" charset="0"/>
              </a:rPr>
              <a:t>Bridget Nyamekye</a:t>
            </a:r>
          </a:p>
        </p:txBody>
      </p:sp>
    </p:spTree>
    <p:extLst>
      <p:ext uri="{BB962C8B-B14F-4D97-AF65-F5344CB8AC3E}">
        <p14:creationId xmlns:p14="http://schemas.microsoft.com/office/powerpoint/2010/main" val="1718750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0D534-E5C6-8A40-3DE6-6CFCC2FB8457}"/>
              </a:ext>
            </a:extLst>
          </p:cNvPr>
          <p:cNvSpPr>
            <a:spLocks noGrp="1"/>
          </p:cNvSpPr>
          <p:nvPr>
            <p:ph type="title"/>
          </p:nvPr>
        </p:nvSpPr>
        <p:spPr>
          <a:xfrm>
            <a:off x="656220" y="475182"/>
            <a:ext cx="11155680" cy="1463040"/>
          </a:xfrm>
        </p:spPr>
        <p:txBody>
          <a:bodyPr/>
          <a:lstStyle/>
          <a:p>
            <a:r>
              <a:rPr lang="en-US" dirty="0"/>
              <a:t>Background of the Study</a:t>
            </a:r>
          </a:p>
        </p:txBody>
      </p:sp>
      <p:sp>
        <p:nvSpPr>
          <p:cNvPr id="3" name="Content Placeholder 2">
            <a:extLst>
              <a:ext uri="{FF2B5EF4-FFF2-40B4-BE49-F238E27FC236}">
                <a16:creationId xmlns:a16="http://schemas.microsoft.com/office/drawing/2014/main" id="{1F2BA4AF-BB33-2DA0-4EAD-798C3B17B011}"/>
              </a:ext>
            </a:extLst>
          </p:cNvPr>
          <p:cNvSpPr>
            <a:spLocks noGrp="1"/>
          </p:cNvSpPr>
          <p:nvPr>
            <p:ph idx="1"/>
          </p:nvPr>
        </p:nvSpPr>
        <p:spPr>
          <a:xfrm>
            <a:off x="518160" y="1553744"/>
            <a:ext cx="11155680" cy="2766643"/>
          </a:xfrm>
        </p:spPr>
        <p:txBody>
          <a:bodyPr/>
          <a:lstStyle/>
          <a:p>
            <a:pPr lvl="0">
              <a:lnSpc>
                <a:spcPct val="100000"/>
              </a:lnSpc>
            </a:pPr>
            <a:r>
              <a:rPr lang="en-US" dirty="0"/>
              <a:t>Cardiovascular diseases (CVDs) remain the leading cause of morbidity and mortality in the US and globally. A major portion of the CVD events, such as stroke and Heart Attack, occur unwitnessed, delaying treatment and increasing the risk of death or disability. </a:t>
            </a:r>
          </a:p>
          <a:p>
            <a:pPr lvl="0">
              <a:lnSpc>
                <a:spcPct val="100000"/>
              </a:lnSpc>
            </a:pPr>
            <a:r>
              <a:rPr lang="en-US" dirty="0"/>
              <a:t>The delayed detection and management of these CVD events increases the cost of medical care, which is associated with poor prognosis. </a:t>
            </a:r>
          </a:p>
          <a:p>
            <a:pPr lvl="0">
              <a:lnSpc>
                <a:spcPct val="100000"/>
              </a:lnSpc>
            </a:pPr>
            <a:r>
              <a:rPr lang="en-US" dirty="0"/>
              <a:t>Artificial Intelligence (AI) offers the opportunity to leverage real-time monitoring data from wearable devices to detect major events and alert the caregivers and emergency services for prompt responses</a:t>
            </a:r>
          </a:p>
        </p:txBody>
      </p:sp>
      <p:graphicFrame>
        <p:nvGraphicFramePr>
          <p:cNvPr id="4" name="Chart 3">
            <a:extLst>
              <a:ext uri="{FF2B5EF4-FFF2-40B4-BE49-F238E27FC236}">
                <a16:creationId xmlns:a16="http://schemas.microsoft.com/office/drawing/2014/main" id="{7BA1C10F-E32F-3ED9-309E-9964F4659D60}"/>
              </a:ext>
            </a:extLst>
          </p:cNvPr>
          <p:cNvGraphicFramePr>
            <a:graphicFrameLocks/>
          </p:cNvGraphicFramePr>
          <p:nvPr>
            <p:extLst>
              <p:ext uri="{D42A27DB-BD31-4B8C-83A1-F6EECF244321}">
                <p14:modId xmlns:p14="http://schemas.microsoft.com/office/powerpoint/2010/main" val="3134135629"/>
              </p:ext>
            </p:extLst>
          </p:nvPr>
        </p:nvGraphicFramePr>
        <p:xfrm>
          <a:off x="2565229" y="4153585"/>
          <a:ext cx="5130459" cy="23013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143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F6DB7C3-4740-A8BF-7409-A738F355DE7D}"/>
              </a:ext>
            </a:extLst>
          </p:cNvPr>
          <p:cNvSpPr>
            <a:spLocks noGrp="1"/>
          </p:cNvSpPr>
          <p:nvPr>
            <p:ph type="title"/>
          </p:nvPr>
        </p:nvSpPr>
        <p:spPr>
          <a:xfrm>
            <a:off x="521208" y="978408"/>
            <a:ext cx="6281928" cy="1463040"/>
          </a:xfrm>
        </p:spPr>
        <p:txBody>
          <a:bodyPr>
            <a:normAutofit/>
          </a:bodyPr>
          <a:lstStyle/>
          <a:p>
            <a:r>
              <a:rPr lang="en-US" dirty="0"/>
              <a:t>Objectives</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06FAC36-365C-71F0-B8DF-5375955AC05E}"/>
              </a:ext>
            </a:extLst>
          </p:cNvPr>
          <p:cNvSpPr>
            <a:spLocks noGrp="1"/>
          </p:cNvSpPr>
          <p:nvPr>
            <p:ph idx="1"/>
          </p:nvPr>
        </p:nvSpPr>
        <p:spPr>
          <a:xfrm>
            <a:off x="521208" y="2578608"/>
            <a:ext cx="6281928" cy="3767328"/>
          </a:xfrm>
        </p:spPr>
        <p:txBody>
          <a:bodyPr>
            <a:normAutofit/>
          </a:bodyPr>
          <a:lstStyle/>
          <a:p>
            <a:pPr lvl="0"/>
            <a:r>
              <a:rPr lang="en-US" dirty="0"/>
              <a:t>1. Develop an AI-powered system for early detection of cardiovascular events (stroke &amp; heart attack).</a:t>
            </a:r>
          </a:p>
          <a:p>
            <a:pPr lvl="0"/>
            <a:r>
              <a:rPr lang="en-US" dirty="0"/>
              <a:t>2. Implement automated alerts for caregivers and emergency responders to ensure a timely and effective response.</a:t>
            </a:r>
          </a:p>
        </p:txBody>
      </p:sp>
      <p:pic>
        <p:nvPicPr>
          <p:cNvPr id="7" name="Graphic 6" descr="Laptop Secure">
            <a:extLst>
              <a:ext uri="{FF2B5EF4-FFF2-40B4-BE49-F238E27FC236}">
                <a16:creationId xmlns:a16="http://schemas.microsoft.com/office/drawing/2014/main" id="{0C2403F6-8E1E-BE6A-B616-376878A9EF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7668" y="1994644"/>
            <a:ext cx="4356461" cy="4356461"/>
          </a:xfrm>
          <a:prstGeom prst="rect">
            <a:avLst/>
          </a:prstGeom>
        </p:spPr>
      </p:pic>
    </p:spTree>
    <p:extLst>
      <p:ext uri="{BB962C8B-B14F-4D97-AF65-F5344CB8AC3E}">
        <p14:creationId xmlns:p14="http://schemas.microsoft.com/office/powerpoint/2010/main" val="3602818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6C99B-EAAC-DDE9-4A1A-26800E9AB4E9}"/>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F6580060-21B1-1E04-EECF-D11C6AD62D3F}"/>
              </a:ext>
            </a:extLst>
          </p:cNvPr>
          <p:cNvSpPr>
            <a:spLocks noGrp="1"/>
          </p:cNvSpPr>
          <p:nvPr>
            <p:ph idx="1"/>
          </p:nvPr>
        </p:nvSpPr>
        <p:spPr/>
        <p:txBody>
          <a:bodyPr/>
          <a:lstStyle/>
          <a:p>
            <a:r>
              <a:rPr lang="en-US" dirty="0"/>
              <a:t>1. Primary: An AI-powered system integrating real-time data from wearable devices can accurately detect early signs of cardiovascular events (e.g., stroke, myocardial infarction) with higher sensitivity and specificity &gt;95%.</a:t>
            </a:r>
          </a:p>
          <a:p>
            <a:r>
              <a:rPr lang="en-US" dirty="0"/>
              <a:t>2. Secondary: Automated alert delivery to patients, caregivers, and emergency responders reduces the time-to-intervention for cardiovascular emergencies, thereby improving patient outcomes and survival rates.</a:t>
            </a:r>
          </a:p>
          <a:p>
            <a:endParaRPr lang="en-US" dirty="0"/>
          </a:p>
        </p:txBody>
      </p:sp>
    </p:spTree>
    <p:extLst>
      <p:ext uri="{BB962C8B-B14F-4D97-AF65-F5344CB8AC3E}">
        <p14:creationId xmlns:p14="http://schemas.microsoft.com/office/powerpoint/2010/main" val="292634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86333-4B5C-A6BE-EC12-DF813876AD9E}"/>
              </a:ext>
            </a:extLst>
          </p:cNvPr>
          <p:cNvSpPr>
            <a:spLocks noGrp="1"/>
          </p:cNvSpPr>
          <p:nvPr>
            <p:ph type="title"/>
          </p:nvPr>
        </p:nvSpPr>
        <p:spPr/>
        <p:txBody>
          <a:bodyPr/>
          <a:lstStyle/>
          <a:p>
            <a:r>
              <a:rPr lang="en-US" dirty="0"/>
              <a:t>Literature review</a:t>
            </a:r>
          </a:p>
        </p:txBody>
      </p:sp>
      <p:graphicFrame>
        <p:nvGraphicFramePr>
          <p:cNvPr id="5" name="Content Placeholder 2">
            <a:extLst>
              <a:ext uri="{FF2B5EF4-FFF2-40B4-BE49-F238E27FC236}">
                <a16:creationId xmlns:a16="http://schemas.microsoft.com/office/drawing/2014/main" id="{120F03EB-FAB5-A0B3-C725-D1E90BAB152F}"/>
              </a:ext>
            </a:extLst>
          </p:cNvPr>
          <p:cNvGraphicFramePr>
            <a:graphicFrameLocks noGrp="1"/>
          </p:cNvGraphicFramePr>
          <p:nvPr>
            <p:ph idx="1"/>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5194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8FEE1-1F92-943F-B2CB-D28CF2983292}"/>
              </a:ext>
            </a:extLst>
          </p:cNvPr>
          <p:cNvSpPr>
            <a:spLocks noGrp="1"/>
          </p:cNvSpPr>
          <p:nvPr>
            <p:ph type="title"/>
          </p:nvPr>
        </p:nvSpPr>
        <p:spPr/>
        <p:txBody>
          <a:bodyPr/>
          <a:lstStyle/>
          <a:p>
            <a:r>
              <a:rPr lang="en-US" dirty="0"/>
              <a:t>Literature Review - cont’d</a:t>
            </a:r>
          </a:p>
        </p:txBody>
      </p:sp>
      <p:graphicFrame>
        <p:nvGraphicFramePr>
          <p:cNvPr id="5" name="Content Placeholder 2">
            <a:extLst>
              <a:ext uri="{FF2B5EF4-FFF2-40B4-BE49-F238E27FC236}">
                <a16:creationId xmlns:a16="http://schemas.microsoft.com/office/drawing/2014/main" id="{D08CCCB1-D921-A3C6-11B9-4FDFA6082B01}"/>
              </a:ext>
            </a:extLst>
          </p:cNvPr>
          <p:cNvGraphicFramePr>
            <a:graphicFrameLocks noGrp="1"/>
          </p:cNvGraphicFramePr>
          <p:nvPr>
            <p:ph idx="1"/>
          </p:nvPr>
        </p:nvGraphicFramePr>
        <p:xfrm>
          <a:off x="521208" y="2578608"/>
          <a:ext cx="11155680" cy="37673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95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2D9D-0331-CE2D-91C0-270659951ABF}"/>
              </a:ext>
            </a:extLst>
          </p:cNvPr>
          <p:cNvSpPr>
            <a:spLocks noGrp="1"/>
          </p:cNvSpPr>
          <p:nvPr>
            <p:ph type="title"/>
          </p:nvPr>
        </p:nvSpPr>
        <p:spPr/>
        <p:txBody>
          <a:bodyPr/>
          <a:lstStyle/>
          <a:p>
            <a:r>
              <a:rPr lang="en-US" dirty="0"/>
              <a:t>Justification of Population</a:t>
            </a:r>
          </a:p>
        </p:txBody>
      </p:sp>
      <p:sp>
        <p:nvSpPr>
          <p:cNvPr id="3" name="Content Placeholder 2">
            <a:extLst>
              <a:ext uri="{FF2B5EF4-FFF2-40B4-BE49-F238E27FC236}">
                <a16:creationId xmlns:a16="http://schemas.microsoft.com/office/drawing/2014/main" id="{C211F149-DA77-0462-2071-1DB4F2B8BCDE}"/>
              </a:ext>
            </a:extLst>
          </p:cNvPr>
          <p:cNvSpPr>
            <a:spLocks noGrp="1"/>
          </p:cNvSpPr>
          <p:nvPr>
            <p:ph idx="1"/>
          </p:nvPr>
        </p:nvSpPr>
        <p:spPr>
          <a:xfrm>
            <a:off x="521208" y="1868557"/>
            <a:ext cx="11155680" cy="4477379"/>
          </a:xfrm>
        </p:spPr>
        <p:txBody>
          <a:bodyPr>
            <a:normAutofit/>
          </a:bodyPr>
          <a:lstStyle/>
          <a:p>
            <a:r>
              <a:rPr lang="en-US" dirty="0"/>
              <a:t>Disproportionate Burden of Stroke and MI on poor populations</a:t>
            </a:r>
          </a:p>
          <a:p>
            <a:endParaRPr lang="en-US" dirty="0"/>
          </a:p>
          <a:p>
            <a:r>
              <a:rPr lang="en-US" dirty="0"/>
              <a:t>Higher Mortality and Poor Survival Outcomes</a:t>
            </a:r>
          </a:p>
          <a:p>
            <a:endParaRPr lang="en-US" dirty="0"/>
          </a:p>
          <a:p>
            <a:r>
              <a:rPr lang="en-US" dirty="0"/>
              <a:t>Lack of Precision Tools Tailored to Early Detection in Underserved Populations</a:t>
            </a:r>
          </a:p>
          <a:p>
            <a:endParaRPr lang="en-US" dirty="0"/>
          </a:p>
          <a:p>
            <a:r>
              <a:rPr lang="en-US" dirty="0"/>
              <a:t>Alignment With National Priorities in Health Equity</a:t>
            </a:r>
          </a:p>
          <a:p>
            <a:endParaRPr lang="en-US" dirty="0"/>
          </a:p>
          <a:p>
            <a:r>
              <a:rPr lang="en-US" dirty="0"/>
              <a:t>High Potential for Public Health Impact</a:t>
            </a:r>
          </a:p>
          <a:p>
            <a:endParaRPr lang="en-US" dirty="0"/>
          </a:p>
        </p:txBody>
      </p:sp>
    </p:spTree>
    <p:extLst>
      <p:ext uri="{BB962C8B-B14F-4D97-AF65-F5344CB8AC3E}">
        <p14:creationId xmlns:p14="http://schemas.microsoft.com/office/powerpoint/2010/main" val="1279589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586515-CB49-B058-C62F-8E345CEEFAF3}"/>
              </a:ext>
            </a:extLst>
          </p:cNvPr>
          <p:cNvSpPr>
            <a:spLocks noGrp="1"/>
          </p:cNvSpPr>
          <p:nvPr>
            <p:ph type="title"/>
          </p:nvPr>
        </p:nvSpPr>
        <p:spPr>
          <a:xfrm>
            <a:off x="521208" y="978408"/>
            <a:ext cx="11155680" cy="1463040"/>
          </a:xfrm>
        </p:spPr>
        <p:txBody>
          <a:bodyPr>
            <a:normAutofit/>
          </a:bodyPr>
          <a:lstStyle/>
          <a:p>
            <a:r>
              <a:rPr lang="en-US" dirty="0"/>
              <a:t>Methodology</a:t>
            </a:r>
          </a:p>
        </p:txBody>
      </p:sp>
      <p:sp>
        <p:nvSpPr>
          <p:cNvPr id="3" name="Content Placeholder 2">
            <a:extLst>
              <a:ext uri="{FF2B5EF4-FFF2-40B4-BE49-F238E27FC236}">
                <a16:creationId xmlns:a16="http://schemas.microsoft.com/office/drawing/2014/main" id="{879AF96D-F7E4-50B2-6987-D45944F07D35}"/>
              </a:ext>
            </a:extLst>
          </p:cNvPr>
          <p:cNvSpPr>
            <a:spLocks noGrp="1"/>
          </p:cNvSpPr>
          <p:nvPr>
            <p:ph idx="1"/>
          </p:nvPr>
        </p:nvSpPr>
        <p:spPr>
          <a:xfrm>
            <a:off x="516636" y="1783700"/>
            <a:ext cx="11155680" cy="3767328"/>
          </a:xfrm>
        </p:spPr>
        <p:txBody>
          <a:bodyPr>
            <a:normAutofit/>
          </a:bodyPr>
          <a:lstStyle/>
          <a:p>
            <a:r>
              <a:rPr lang="en-US" dirty="0"/>
              <a:t>Dataset</a:t>
            </a:r>
          </a:p>
          <a:p>
            <a:pPr marL="0" indent="0">
              <a:buNone/>
            </a:pPr>
            <a:r>
              <a:rPr lang="en-US" dirty="0"/>
              <a:t>The dataset is taken from Kaggle, which was extracted from MIMIC III. It consists of 23,468 samples.                                                                                                                                                                      Features used include heart rate, blood pressure, SpO2, respiratory rate, and temperature.                                                                                                            Target labels are 0 and 1, indicating the absence or presence of a CVD event, respectively.</a:t>
            </a:r>
          </a:p>
          <a:p>
            <a:pPr marL="0" indent="0">
              <a:buNone/>
            </a:pPr>
            <a:endParaRPr lang="en-US" dirty="0"/>
          </a:p>
        </p:txBody>
      </p:sp>
      <p:sp>
        <p:nvSpPr>
          <p:cNvPr id="18" name="Freeform: Shape 17">
            <a:extLst>
              <a:ext uri="{FF2B5EF4-FFF2-40B4-BE49-F238E27FC236}">
                <a16:creationId xmlns:a16="http://schemas.microsoft.com/office/drawing/2014/main" id="{C6D5B03A-B780-A698-DFA9-C9932F22D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screenshot of a computer&#10;&#10;AI-generated content may be incorrect.">
            <a:extLst>
              <a:ext uri="{FF2B5EF4-FFF2-40B4-BE49-F238E27FC236}">
                <a16:creationId xmlns:a16="http://schemas.microsoft.com/office/drawing/2014/main" id="{4FCC5EB4-34A4-3247-CECB-DA55902AD00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515112" y="3657601"/>
            <a:ext cx="11437495" cy="2688336"/>
          </a:xfrm>
          <a:prstGeom prst="rect">
            <a:avLst/>
          </a:prstGeom>
          <a:solidFill>
            <a:schemeClr val="accent1"/>
          </a:solidFill>
          <a:ln w="12700">
            <a:noFill/>
          </a:ln>
          <a:scene3d>
            <a:camera prst="orthographicFront"/>
            <a:lightRig rig="threePt" dir="t"/>
          </a:scene3d>
          <a:sp3d z="-6350"/>
        </p:spPr>
      </p:pic>
    </p:spTree>
    <p:extLst>
      <p:ext uri="{BB962C8B-B14F-4D97-AF65-F5344CB8AC3E}">
        <p14:creationId xmlns:p14="http://schemas.microsoft.com/office/powerpoint/2010/main" val="3470687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AA3B297-9683-4E38-89FA-062C53E13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2D4004-9E07-62D5-353E-F97DEFC3EF50}"/>
              </a:ext>
            </a:extLst>
          </p:cNvPr>
          <p:cNvSpPr>
            <a:spLocks noGrp="1"/>
          </p:cNvSpPr>
          <p:nvPr>
            <p:ph type="title"/>
          </p:nvPr>
        </p:nvSpPr>
        <p:spPr>
          <a:xfrm>
            <a:off x="521208" y="978408"/>
            <a:ext cx="8686800" cy="1463040"/>
          </a:xfrm>
        </p:spPr>
        <p:txBody>
          <a:bodyPr>
            <a:normAutofit/>
          </a:bodyPr>
          <a:lstStyle/>
          <a:p>
            <a:r>
              <a:rPr lang="en-US" dirty="0"/>
              <a:t>Machine Learning Models</a:t>
            </a:r>
          </a:p>
        </p:txBody>
      </p:sp>
      <p:sp>
        <p:nvSpPr>
          <p:cNvPr id="12" name="Rectangle 11">
            <a:extLst>
              <a:ext uri="{FF2B5EF4-FFF2-40B4-BE49-F238E27FC236}">
                <a16:creationId xmlns:a16="http://schemas.microsoft.com/office/drawing/2014/main" id="{4BF74692-AE31-4A00-B5F9-994E8D519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D7D5C055-2057-A0CA-B682-32272F551CFF}"/>
              </a:ext>
            </a:extLst>
          </p:cNvPr>
          <p:cNvGraphicFramePr>
            <a:graphicFrameLocks noGrp="1"/>
          </p:cNvGraphicFramePr>
          <p:nvPr>
            <p:ph idx="1"/>
            <p:extLst>
              <p:ext uri="{D42A27DB-BD31-4B8C-83A1-F6EECF244321}">
                <p14:modId xmlns:p14="http://schemas.microsoft.com/office/powerpoint/2010/main" val="3982220574"/>
              </p:ext>
            </p:extLst>
          </p:nvPr>
        </p:nvGraphicFramePr>
        <p:xfrm>
          <a:off x="520700" y="2578100"/>
          <a:ext cx="868680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3576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EEC5-A33B-9478-A5E9-5B2CF445E064}"/>
              </a:ext>
            </a:extLst>
          </p:cNvPr>
          <p:cNvSpPr>
            <a:spLocks noGrp="1"/>
          </p:cNvSpPr>
          <p:nvPr>
            <p:ph type="title"/>
          </p:nvPr>
        </p:nvSpPr>
        <p:spPr/>
        <p:txBody>
          <a:bodyPr/>
          <a:lstStyle/>
          <a:p>
            <a:r>
              <a:rPr lang="en-US" dirty="0"/>
              <a:t>Train-Test Split Cross Validation</a:t>
            </a:r>
          </a:p>
        </p:txBody>
      </p:sp>
      <p:sp>
        <p:nvSpPr>
          <p:cNvPr id="3" name="Content Placeholder 2">
            <a:extLst>
              <a:ext uri="{FF2B5EF4-FFF2-40B4-BE49-F238E27FC236}">
                <a16:creationId xmlns:a16="http://schemas.microsoft.com/office/drawing/2014/main" id="{E4E97D16-238C-ED90-470C-CB98B8BB0A7F}"/>
              </a:ext>
            </a:extLst>
          </p:cNvPr>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Train-Test-Split: </a:t>
            </a:r>
            <a:r>
              <a:rPr lang="en-US" dirty="0">
                <a:latin typeface="Times New Roman" panose="02020603050405020304" pitchFamily="18" charset="0"/>
                <a:cs typeface="Times New Roman" panose="02020603050405020304" pitchFamily="18" charset="0"/>
              </a:rPr>
              <a:t>The data was split into training (80%) and testing (20%) sets using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train_test_split</a:t>
            </a:r>
            <a:r>
              <a:rPr lang="en-US" b="1" dirty="0">
                <a:latin typeface="Times New Roman" panose="02020603050405020304" pitchFamily="18" charset="0"/>
                <a:cs typeface="Times New Roman" panose="02020603050405020304" pitchFamily="18" charset="0"/>
              </a:rPr>
              <a:t> with </a:t>
            </a:r>
            <a:r>
              <a:rPr lang="en-US" b="1" dirty="0" err="1">
                <a:latin typeface="Times New Roman" panose="02020603050405020304" pitchFamily="18" charset="0"/>
                <a:cs typeface="Times New Roman" panose="02020603050405020304" pitchFamily="18" charset="0"/>
              </a:rPr>
              <a:t>random_state</a:t>
            </a:r>
            <a:r>
              <a:rPr lang="en-US" b="1" dirty="0">
                <a:latin typeface="Times New Roman" panose="02020603050405020304" pitchFamily="18" charset="0"/>
                <a:cs typeface="Times New Roman" panose="02020603050405020304" pitchFamily="18" charset="0"/>
              </a:rPr>
              <a:t>=42</a:t>
            </a:r>
          </a:p>
          <a:p>
            <a:pPr marL="0" indent="0">
              <a:buNone/>
            </a:pPr>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Cross-Validation</a:t>
            </a:r>
            <a:r>
              <a:rPr lang="en-US" dirty="0">
                <a:latin typeface="Times New Roman" panose="02020603050405020304" pitchFamily="18" charset="0"/>
                <a:cs typeface="Times New Roman" panose="02020603050405020304" pitchFamily="18" charset="0"/>
              </a:rPr>
              <a:t>:  To get a more robust evaluation of model performance by splitting the data into multiple folds and running the model on different combinations of these folds. This helps to reduce the impact of a single train/test split and provides a better estimate of how the model will perform on unseen data. A 10-fold cross-validation was used to validate the models adequately.</a:t>
            </a:r>
          </a:p>
          <a:p>
            <a:endParaRPr lang="en-US" dirty="0"/>
          </a:p>
        </p:txBody>
      </p:sp>
    </p:spTree>
    <p:extLst>
      <p:ext uri="{BB962C8B-B14F-4D97-AF65-F5344CB8AC3E}">
        <p14:creationId xmlns:p14="http://schemas.microsoft.com/office/powerpoint/2010/main" val="1874968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7DC9F68-4768-B6B2-A0A1-F642794964FA}"/>
              </a:ext>
            </a:extLst>
          </p:cNvPr>
          <p:cNvSpPr>
            <a:spLocks noGrp="1"/>
          </p:cNvSpPr>
          <p:nvPr>
            <p:ph type="title"/>
          </p:nvPr>
        </p:nvSpPr>
        <p:spPr>
          <a:xfrm>
            <a:off x="620776" y="366438"/>
            <a:ext cx="4389120" cy="2468880"/>
          </a:xfrm>
        </p:spPr>
        <p:txBody>
          <a:bodyPr>
            <a:normAutofit/>
          </a:bodyPr>
          <a:lstStyle/>
          <a:p>
            <a:r>
              <a:rPr lang="en-US" dirty="0"/>
              <a:t>Results</a:t>
            </a:r>
          </a:p>
        </p:txBody>
      </p:sp>
      <p:sp>
        <p:nvSpPr>
          <p:cNvPr id="3" name="Content Placeholder 2">
            <a:extLst>
              <a:ext uri="{FF2B5EF4-FFF2-40B4-BE49-F238E27FC236}">
                <a16:creationId xmlns:a16="http://schemas.microsoft.com/office/drawing/2014/main" id="{CA52133E-A34E-2EBD-E74B-B58959B9E0AC}"/>
              </a:ext>
            </a:extLst>
          </p:cNvPr>
          <p:cNvSpPr>
            <a:spLocks noGrp="1"/>
          </p:cNvSpPr>
          <p:nvPr>
            <p:ph idx="1"/>
          </p:nvPr>
        </p:nvSpPr>
        <p:spPr>
          <a:xfrm>
            <a:off x="6993466" y="1111673"/>
            <a:ext cx="4840549" cy="4544059"/>
          </a:xfrm>
        </p:spPr>
        <p:txBody>
          <a:bodyPr>
            <a:normAutofit/>
          </a:bodyPr>
          <a:lstStyle/>
          <a:p>
            <a:r>
              <a:rPr lang="en-US" b="1" dirty="0"/>
              <a:t>Cross-Validation Results (10-fold)                                                        </a:t>
            </a:r>
          </a:p>
          <a:p>
            <a:pPr marL="0" indent="0">
              <a:buNone/>
            </a:pPr>
            <a:r>
              <a:rPr lang="en-US" dirty="0"/>
              <a:t>Cross-validation confirmed the strong performance of the tree-based models (Decision Tree, Random Forest, and </a:t>
            </a:r>
            <a:r>
              <a:rPr lang="en-US" dirty="0" err="1"/>
              <a:t>XGBoost</a:t>
            </a:r>
            <a:r>
              <a:rPr lang="en-US" dirty="0"/>
              <a:t>) with mean ROC-AUC scores very close to 1.0000 and low standard deviations, indicating robust performance across different subsets of the data. </a:t>
            </a:r>
          </a:p>
          <a:p>
            <a:pPr marL="0" indent="0">
              <a:buNone/>
            </a:pPr>
            <a:r>
              <a:rPr lang="en-US" dirty="0"/>
              <a:t>Logistic Regression had the lowest ROC-AUC.</a:t>
            </a:r>
          </a:p>
          <a:p>
            <a:pPr marL="0" indent="0">
              <a:buNone/>
            </a:pPr>
            <a:endParaRPr lang="en-US" dirty="0"/>
          </a:p>
          <a:p>
            <a:pPr marL="0" indent="0">
              <a:buNone/>
            </a:pPr>
            <a:endParaRPr lang="en-US" dirty="0"/>
          </a:p>
        </p:txBody>
      </p:sp>
      <p:pic>
        <p:nvPicPr>
          <p:cNvPr id="4" name="Picture 3" descr="A graph of blue bars&#10;&#10;AI-generated content may be incorrect.">
            <a:extLst>
              <a:ext uri="{FF2B5EF4-FFF2-40B4-BE49-F238E27FC236}">
                <a16:creationId xmlns:a16="http://schemas.microsoft.com/office/drawing/2014/main" id="{A8F7AF3D-274D-E829-5503-8C4C65671F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25" y="1331807"/>
            <a:ext cx="6682922" cy="4544059"/>
          </a:xfrm>
          <a:prstGeom prst="rect">
            <a:avLst/>
          </a:prstGeom>
        </p:spPr>
      </p:pic>
    </p:spTree>
    <p:extLst>
      <p:ext uri="{BB962C8B-B14F-4D97-AF65-F5344CB8AC3E}">
        <p14:creationId xmlns:p14="http://schemas.microsoft.com/office/powerpoint/2010/main" val="69945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46C5-7574-C636-217E-5A2DCD8A8352}"/>
              </a:ext>
            </a:extLst>
          </p:cNvPr>
          <p:cNvSpPr>
            <a:spLocks noGrp="1"/>
          </p:cNvSpPr>
          <p:nvPr>
            <p:ph type="title"/>
          </p:nvPr>
        </p:nvSpPr>
        <p:spPr/>
        <p:txBody>
          <a:bodyPr/>
          <a:lstStyle/>
          <a:p>
            <a:r>
              <a:rPr lang="en-US" dirty="0"/>
              <a:t>Evaluation Metrics</a:t>
            </a:r>
          </a:p>
        </p:txBody>
      </p:sp>
      <p:sp>
        <p:nvSpPr>
          <p:cNvPr id="3" name="Content Placeholder 2">
            <a:extLst>
              <a:ext uri="{FF2B5EF4-FFF2-40B4-BE49-F238E27FC236}">
                <a16:creationId xmlns:a16="http://schemas.microsoft.com/office/drawing/2014/main" id="{CE6485E5-F374-0466-CFB5-A104F92C3DCE}"/>
              </a:ext>
            </a:extLst>
          </p:cNvPr>
          <p:cNvSpPr>
            <a:spLocks noGrp="1"/>
          </p:cNvSpPr>
          <p:nvPr>
            <p:ph idx="1"/>
          </p:nvPr>
        </p:nvSpPr>
        <p:spPr/>
        <p:txBody>
          <a:bodyPr/>
          <a:lstStyle/>
          <a:p>
            <a:r>
              <a:rPr lang="en-US" b="1" dirty="0">
                <a:solidFill>
                  <a:schemeClr val="accent2"/>
                </a:solidFill>
              </a:rPr>
              <a:t>Models Performance                                                            </a:t>
            </a:r>
          </a:p>
          <a:p>
            <a:pPr marL="0" indent="0">
              <a:buNone/>
            </a:pPr>
            <a:r>
              <a:rPr lang="en-US" b="1" dirty="0"/>
              <a:t>Evaluation Metrics</a:t>
            </a:r>
            <a:r>
              <a:rPr lang="en-US" dirty="0"/>
              <a:t>: Models were evaluated using Accuracy, Precision, Recall (Sensitivity), F1-score, ROC-AUC, and Specificity on the test set, and Mean ROC-AUC (CV) and Standard Deviation ROC-AUC (CV) from 10-fold cross-validation</a:t>
            </a:r>
          </a:p>
        </p:txBody>
      </p:sp>
    </p:spTree>
    <p:extLst>
      <p:ext uri="{BB962C8B-B14F-4D97-AF65-F5344CB8AC3E}">
        <p14:creationId xmlns:p14="http://schemas.microsoft.com/office/powerpoint/2010/main" val="290374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605B114-33EB-FCFE-29C3-42E767AE8918}"/>
              </a:ext>
            </a:extLst>
          </p:cNvPr>
          <p:cNvSpPr>
            <a:spLocks noGrp="1"/>
          </p:cNvSpPr>
          <p:nvPr>
            <p:ph type="title"/>
          </p:nvPr>
        </p:nvSpPr>
        <p:spPr>
          <a:xfrm>
            <a:off x="521208" y="978408"/>
            <a:ext cx="11155680" cy="1463040"/>
          </a:xfrm>
        </p:spPr>
        <p:txBody>
          <a:bodyPr>
            <a:normAutofit/>
          </a:bodyPr>
          <a:lstStyle/>
          <a:p>
            <a:endParaRPr lang="en-US"/>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C195BDA-C03E-C791-3499-984A2D266668}"/>
              </a:ext>
            </a:extLst>
          </p:cNvPr>
          <p:cNvGraphicFramePr>
            <a:graphicFrameLocks noGrp="1"/>
          </p:cNvGraphicFramePr>
          <p:nvPr>
            <p:ph idx="1"/>
            <p:extLst>
              <p:ext uri="{D42A27DB-BD31-4B8C-83A1-F6EECF244321}">
                <p14:modId xmlns:p14="http://schemas.microsoft.com/office/powerpoint/2010/main" val="436109732"/>
              </p:ext>
            </p:extLst>
          </p:nvPr>
        </p:nvGraphicFramePr>
        <p:xfrm>
          <a:off x="520700" y="220133"/>
          <a:ext cx="11156950" cy="672253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53999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764C8-C5CC-E866-AF25-1C8B38226562}"/>
              </a:ext>
            </a:extLst>
          </p:cNvPr>
          <p:cNvSpPr>
            <a:spLocks noGrp="1"/>
          </p:cNvSpPr>
          <p:nvPr>
            <p:ph type="title"/>
          </p:nvPr>
        </p:nvSpPr>
        <p:spPr/>
        <p:txBody>
          <a:bodyPr>
            <a:normAutofit fontScale="90000"/>
          </a:bodyPr>
          <a:lstStyle/>
          <a:p>
            <a:r>
              <a:rPr lang="en-US" sz="2200" b="0"/>
              <a:t>Best Performing Models: Both Decision Tree and Random Forest models achieved perfect or near-perfect scores (1.0000) across most metrics on the test set, including Accuracy, Precision, Recall, F1-score, and ROC-AUC. XGBoost also performed exceptionally well</a:t>
            </a:r>
            <a:br>
              <a:rPr lang="en-US"/>
            </a:br>
            <a:endParaRPr lang="en-US" dirty="0"/>
          </a:p>
        </p:txBody>
      </p:sp>
      <p:pic>
        <p:nvPicPr>
          <p:cNvPr id="4" name="Content Placeholder 3" descr="A graph with a line">
            <a:extLst>
              <a:ext uri="{FF2B5EF4-FFF2-40B4-BE49-F238E27FC236}">
                <a16:creationId xmlns:a16="http://schemas.microsoft.com/office/drawing/2014/main" id="{1F43EED9-63E1-0BD4-2CA6-1E34C40C12EC}"/>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75366" y="2294467"/>
            <a:ext cx="8441267" cy="4385732"/>
          </a:xfrm>
          <a:prstGeom prst="rect">
            <a:avLst/>
          </a:prstGeom>
        </p:spPr>
      </p:pic>
    </p:spTree>
    <p:extLst>
      <p:ext uri="{BB962C8B-B14F-4D97-AF65-F5344CB8AC3E}">
        <p14:creationId xmlns:p14="http://schemas.microsoft.com/office/powerpoint/2010/main" val="2625237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560F-9F50-644D-A859-58A6E318666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63C27DA-E377-DBD8-2B18-FAD50A65425C}"/>
              </a:ext>
            </a:extLst>
          </p:cNvPr>
          <p:cNvSpPr>
            <a:spLocks noGrp="1"/>
          </p:cNvSpPr>
          <p:nvPr>
            <p:ph idx="1"/>
          </p:nvPr>
        </p:nvSpPr>
        <p:spPr/>
        <p:txBody>
          <a:bodyPr/>
          <a:lstStyle/>
          <a:p>
            <a:pPr marL="0" indent="0">
              <a:buNone/>
            </a:pPr>
            <a:r>
              <a:rPr lang="en-US" b="1" dirty="0">
                <a:solidFill>
                  <a:schemeClr val="accent2"/>
                </a:solidFill>
              </a:rPr>
              <a:t>Overfitting Analysis</a:t>
            </a:r>
          </a:p>
          <a:p>
            <a:r>
              <a:rPr lang="en-US" dirty="0"/>
              <a:t>Training accuracy and ROC-AUC scores were calculated for all trained models.</a:t>
            </a:r>
          </a:p>
          <a:p>
            <a:pPr marL="0" indent="0">
              <a:buNone/>
            </a:pPr>
            <a:endParaRPr lang="en-US" dirty="0"/>
          </a:p>
          <a:p>
            <a:r>
              <a:rPr lang="en-US" dirty="0"/>
              <a:t>The difference between training and testing scores for all models was found to be very small (less than 0.05 for both accuracy and ROC-AUC), indicating no significant overfitting.</a:t>
            </a:r>
          </a:p>
        </p:txBody>
      </p:sp>
    </p:spTree>
    <p:extLst>
      <p:ext uri="{BB962C8B-B14F-4D97-AF65-F5344CB8AC3E}">
        <p14:creationId xmlns:p14="http://schemas.microsoft.com/office/powerpoint/2010/main" val="1515401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03A9E-FCAF-FD48-2E21-94695C06ADF7}"/>
              </a:ext>
            </a:extLst>
          </p:cNvPr>
          <p:cNvSpPr>
            <a:spLocks noGrp="1"/>
          </p:cNvSpPr>
          <p:nvPr>
            <p:ph type="title"/>
          </p:nvPr>
        </p:nvSpPr>
        <p:spPr/>
        <p:txBody>
          <a:bodyPr/>
          <a:lstStyle/>
          <a:p>
            <a:r>
              <a:rPr lang="en-US" dirty="0"/>
              <a:t>Overfitting Analysis</a:t>
            </a:r>
          </a:p>
        </p:txBody>
      </p:sp>
      <p:pic>
        <p:nvPicPr>
          <p:cNvPr id="4" name="Content Placeholder 3" descr="A graph of blue and orange bars&#10;&#10;AI-generated content may be incorrect.">
            <a:extLst>
              <a:ext uri="{FF2B5EF4-FFF2-40B4-BE49-F238E27FC236}">
                <a16:creationId xmlns:a16="http://schemas.microsoft.com/office/drawing/2014/main" id="{C1C4D960-2D83-CF4A-09FE-4D3DD87DEFD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2475" y="2590800"/>
            <a:ext cx="5533325" cy="4080933"/>
          </a:xfrm>
          <a:prstGeom prst="rect">
            <a:avLst/>
          </a:prstGeom>
        </p:spPr>
      </p:pic>
      <p:pic>
        <p:nvPicPr>
          <p:cNvPr id="5" name="Picture 4" descr="A graph of blue and orange bars&#10;&#10;AI-generated content may be incorrect.">
            <a:extLst>
              <a:ext uri="{FF2B5EF4-FFF2-40B4-BE49-F238E27FC236}">
                <a16:creationId xmlns:a16="http://schemas.microsoft.com/office/drawing/2014/main" id="{87B74674-420C-23AF-956F-4CD7E59236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9333" y="2590800"/>
            <a:ext cx="5640192" cy="4080933"/>
          </a:xfrm>
          <a:prstGeom prst="rect">
            <a:avLst/>
          </a:prstGeom>
        </p:spPr>
      </p:pic>
    </p:spTree>
    <p:extLst>
      <p:ext uri="{BB962C8B-B14F-4D97-AF65-F5344CB8AC3E}">
        <p14:creationId xmlns:p14="http://schemas.microsoft.com/office/powerpoint/2010/main" val="4273159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E86E644-9A1C-422C-51AA-76C9D182D71C}"/>
              </a:ext>
            </a:extLst>
          </p:cNvPr>
          <p:cNvSpPr>
            <a:spLocks noGrp="1"/>
          </p:cNvSpPr>
          <p:nvPr>
            <p:ph type="title"/>
          </p:nvPr>
        </p:nvSpPr>
        <p:spPr>
          <a:xfrm>
            <a:off x="521209" y="971397"/>
            <a:ext cx="3462236" cy="2947460"/>
          </a:xfrm>
        </p:spPr>
        <p:txBody>
          <a:bodyPr vert="horz" lIns="91440" tIns="45720" rIns="91440" bIns="45720" rtlCol="0" anchor="t">
            <a:normAutofit/>
          </a:bodyPr>
          <a:lstStyle/>
          <a:p>
            <a:pPr>
              <a:lnSpc>
                <a:spcPct val="90000"/>
              </a:lnSpc>
            </a:pPr>
            <a:r>
              <a:rPr lang="en-US" sz="1900"/>
              <a:t>Correlation Heatmap: </a:t>
            </a:r>
            <a:br>
              <a:rPr lang="en-US" sz="1900"/>
            </a:br>
            <a:r>
              <a:rPr lang="en-US" sz="1900"/>
              <a:t>The correlation heatmap visualizes the pairwise correlations between the features in the dataset. Each cell in the heatmap represents the correlation coefficient between two features.                                 </a:t>
            </a:r>
            <a:br>
              <a:rPr lang="en-US" sz="1900"/>
            </a:br>
            <a:endParaRPr lang="en-US" sz="1900"/>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graph&#10;&#10;AI-generated content may be incorrect.">
            <a:extLst>
              <a:ext uri="{FF2B5EF4-FFF2-40B4-BE49-F238E27FC236}">
                <a16:creationId xmlns:a16="http://schemas.microsoft.com/office/drawing/2014/main" id="{0131A1E3-D5D5-63E4-656F-286EFAD71D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66381" y="508090"/>
            <a:ext cx="6304240" cy="5626534"/>
          </a:xfrm>
          <a:prstGeom prst="rect">
            <a:avLst/>
          </a:prstGeom>
        </p:spPr>
      </p:pic>
      <p:sp>
        <p:nvSpPr>
          <p:cNvPr id="17" name="Rectangle 16">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945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76D30-3390-E9B6-5355-EF8FCA93DC96}"/>
              </a:ext>
            </a:extLst>
          </p:cNvPr>
          <p:cNvSpPr>
            <a:spLocks noGrp="1"/>
          </p:cNvSpPr>
          <p:nvPr>
            <p:ph type="title"/>
          </p:nvPr>
        </p:nvSpPr>
        <p:spPr/>
        <p:txBody>
          <a:bodyPr/>
          <a:lstStyle/>
          <a:p>
            <a:endParaRPr lang="en-US"/>
          </a:p>
        </p:txBody>
      </p:sp>
      <p:pic>
        <p:nvPicPr>
          <p:cNvPr id="4" name="Content Placeholder 3" descr="A diagram of a patient&#10;&#10;AI-generated content may be incorrect.">
            <a:extLst>
              <a:ext uri="{FF2B5EF4-FFF2-40B4-BE49-F238E27FC236}">
                <a16:creationId xmlns:a16="http://schemas.microsoft.com/office/drawing/2014/main" id="{B7359920-91E8-B0EF-54EC-96ADD09424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4867" y="795867"/>
            <a:ext cx="10938933" cy="5549371"/>
          </a:xfrm>
          <a:prstGeom prst="rect">
            <a:avLst/>
          </a:prstGeom>
        </p:spPr>
      </p:pic>
    </p:spTree>
    <p:extLst>
      <p:ext uri="{BB962C8B-B14F-4D97-AF65-F5344CB8AC3E}">
        <p14:creationId xmlns:p14="http://schemas.microsoft.com/office/powerpoint/2010/main" val="241804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8964A-786C-52E5-4184-9F73484B313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F0222AA-711B-1FD6-DC39-850B48AE8D0E}"/>
              </a:ext>
            </a:extLst>
          </p:cNvPr>
          <p:cNvSpPr>
            <a:spLocks noGrp="1"/>
          </p:cNvSpPr>
          <p:nvPr>
            <p:ph idx="1"/>
          </p:nvPr>
        </p:nvSpPr>
        <p:spPr/>
        <p:txBody>
          <a:bodyPr/>
          <a:lstStyle/>
          <a:p>
            <a:pPr defTabSz="13716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1. This research demonstrates that integrating AI-powered predictive modeling with wearable devices and interoperable health data systems can provide real-time detection of cardiovascular emergencies such as strokes and heart attacks. By linking patient-generated health data to a cloud-based AI engine and delivering timely alerts to patients, caregivers, and emergency responders, the system addresses a critical gap in early recognition of unwitnessed events</a:t>
            </a:r>
          </a:p>
          <a:p>
            <a:pPr defTabSz="137160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defTabSz="1371600"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2. The proposed solution not only enhances patient safety and outcomes but also reduces delays in treatment, potentially lowering morbidity and mortality. Furthermore, the feedback loop into EHRs ensures continuous learning and system improvement, making the platform adaptive and scalable</a:t>
            </a:r>
            <a:endParaRPr lang="en-US" dirty="0"/>
          </a:p>
        </p:txBody>
      </p:sp>
    </p:spTree>
    <p:extLst>
      <p:ext uri="{BB962C8B-B14F-4D97-AF65-F5344CB8AC3E}">
        <p14:creationId xmlns:p14="http://schemas.microsoft.com/office/powerpoint/2010/main" val="991817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89B67-D8B4-E749-85BD-7F441AB0D957}"/>
              </a:ext>
            </a:extLst>
          </p:cNvPr>
          <p:cNvSpPr>
            <a:spLocks noGrp="1"/>
          </p:cNvSpPr>
          <p:nvPr>
            <p:ph type="title"/>
          </p:nvPr>
        </p:nvSpPr>
        <p:spPr/>
        <p:txBody>
          <a:bodyPr/>
          <a:lstStyle/>
          <a:p>
            <a:r>
              <a:rPr lang="en-US" dirty="0"/>
              <a:t>Significance and Impact</a:t>
            </a:r>
          </a:p>
        </p:txBody>
      </p:sp>
      <p:sp>
        <p:nvSpPr>
          <p:cNvPr id="3" name="Content Placeholder 2">
            <a:extLst>
              <a:ext uri="{FF2B5EF4-FFF2-40B4-BE49-F238E27FC236}">
                <a16:creationId xmlns:a16="http://schemas.microsoft.com/office/drawing/2014/main" id="{03A04548-9DEC-8D9B-27D6-CD90352C3790}"/>
              </a:ext>
            </a:extLst>
          </p:cNvPr>
          <p:cNvSpPr>
            <a:spLocks noGrp="1"/>
          </p:cNvSpPr>
          <p:nvPr>
            <p:ph idx="1"/>
          </p:nvPr>
        </p:nvSpPr>
        <p:spPr/>
        <p:txBody>
          <a:bodyPr/>
          <a:lstStyle/>
          <a:p>
            <a:pPr marL="0" indent="0" defTabSz="1371600" eaLnBrk="0" fontAlgn="base" hangingPunct="0">
              <a:spcBef>
                <a:spcPct val="0"/>
              </a:spcBef>
              <a:spcAft>
                <a:spcPct val="0"/>
              </a:spcAft>
              <a:buNone/>
            </a:pPr>
            <a:r>
              <a:rPr lang="en-US" dirty="0">
                <a:latin typeface="Times New Roman" panose="02020603050405020304" pitchFamily="18" charset="0"/>
                <a:cs typeface="Times New Roman" panose="02020603050405020304" pitchFamily="18" charset="0"/>
              </a:rPr>
              <a:t>1. Quality of Care: Early detection and intervention directly translate into better recovery, reduce complications, and improve patient and caregiver satisfaction</a:t>
            </a:r>
          </a:p>
          <a:p>
            <a:pPr defTabSz="137160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marL="0" indent="0" defTabSz="1371600" eaLnBrk="0" fontAlgn="base" hangingPunct="0">
              <a:spcBef>
                <a:spcPct val="0"/>
              </a:spcBef>
              <a:spcAft>
                <a:spcPct val="0"/>
              </a:spcAft>
              <a:buNone/>
            </a:pPr>
            <a:r>
              <a:rPr lang="en-US" dirty="0">
                <a:latin typeface="Times New Roman" panose="02020603050405020304" pitchFamily="18" charset="0"/>
                <a:cs typeface="Times New Roman" panose="02020603050405020304" pitchFamily="18" charset="0"/>
              </a:rPr>
              <a:t>2. Access to Care: As a digital safety net, the system ensures that a timely emergency response is available for vulnerable populations without robust social support.</a:t>
            </a:r>
          </a:p>
          <a:p>
            <a:pPr defTabSz="137160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marL="0" indent="0" defTabSz="1371600" eaLnBrk="0" fontAlgn="base" hangingPunct="0">
              <a:spcBef>
                <a:spcPct val="0"/>
              </a:spcBef>
              <a:spcAft>
                <a:spcPct val="0"/>
              </a:spcAft>
              <a:buNone/>
            </a:pPr>
            <a:r>
              <a:rPr lang="en-US" dirty="0">
                <a:latin typeface="Times New Roman" panose="02020603050405020304" pitchFamily="18" charset="0"/>
                <a:cs typeface="Times New Roman" panose="02020603050405020304" pitchFamily="18" charset="0"/>
              </a:rPr>
              <a:t>3. Population Health Impact: By addressing the 25-36 % of unwitnessed strokes and up to 45% of silent MI, the system targets a substantial fraction of cardiovascular events.</a:t>
            </a:r>
          </a:p>
          <a:p>
            <a:pPr marL="0" indent="0" defTabSz="1371600" eaLnBrk="0" fontAlgn="base" hangingPunct="0">
              <a:spcBef>
                <a:spcPct val="0"/>
              </a:spcBef>
              <a:spcAft>
                <a:spcPct val="0"/>
              </a:spcAft>
              <a:buNone/>
            </a:pPr>
            <a:endParaRPr lang="en-US" dirty="0">
              <a:latin typeface="Times New Roman" panose="02020603050405020304" pitchFamily="18" charset="0"/>
              <a:cs typeface="Times New Roman" panose="02020603050405020304" pitchFamily="18" charset="0"/>
            </a:endParaRPr>
          </a:p>
          <a:p>
            <a:pPr marL="0" indent="0" defTabSz="1371600" eaLnBrk="0" fontAlgn="base" hangingPunct="0">
              <a:spcBef>
                <a:spcPct val="0"/>
              </a:spcBef>
              <a:spcAft>
                <a:spcPct val="0"/>
              </a:spcAft>
              <a:buNone/>
            </a:pPr>
            <a:r>
              <a:rPr lang="en-US" dirty="0">
                <a:latin typeface="Times New Roman" panose="02020603050405020304" pitchFamily="18" charset="0"/>
                <a:cs typeface="Times New Roman" panose="02020603050405020304" pitchFamily="18" charset="0"/>
              </a:rPr>
              <a:t>4. Healthcare System Efficiency: Early interventions reduce the high costs associated with delayed treatment and complications               </a:t>
            </a:r>
          </a:p>
          <a:p>
            <a:endParaRPr lang="en-US" dirty="0"/>
          </a:p>
        </p:txBody>
      </p:sp>
    </p:spTree>
    <p:extLst>
      <p:ext uri="{BB962C8B-B14F-4D97-AF65-F5344CB8AC3E}">
        <p14:creationId xmlns:p14="http://schemas.microsoft.com/office/powerpoint/2010/main" val="3687901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58B28-C318-434A-A096-B0CA6CFBA94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43BDCE0-447A-4987-5C72-F18286C1707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“Cardiovascular diseases.” Accessed: Sept. 02, 2025. [Online]. Available: https://www.who.int/health-topics/cardiovascular-diseases#tab=tab_1 </a:t>
            </a:r>
          </a:p>
          <a:p>
            <a:r>
              <a:rPr lang="en-US" dirty="0">
                <a:latin typeface="Times New Roman" panose="02020603050405020304" pitchFamily="18" charset="0"/>
                <a:cs typeface="Times New Roman" panose="02020603050405020304" pitchFamily="18" charset="0"/>
              </a:rPr>
              <a:t>“Stroke Facts | Stroke | CDC.” Accessed: Sept. 02, 2025. [Online]. Available: https://www.cdc.gov/stroke/data-research/facts-stats/index.html </a:t>
            </a:r>
          </a:p>
          <a:p>
            <a:r>
              <a:rPr lang="en-US" dirty="0">
                <a:latin typeface="Times New Roman" panose="02020603050405020304" pitchFamily="18" charset="0"/>
                <a:cs typeface="Times New Roman" panose="02020603050405020304" pitchFamily="18" charset="0"/>
              </a:rPr>
              <a:t>“Heart Disease Facts | Heart Disease | CDC.” Accessed: Sept. 02, 2025. [Online]. Available: https://www.cdc.gov/heart-disease/data-research/facts-stats/index.html </a:t>
            </a:r>
          </a:p>
          <a:p>
            <a:r>
              <a:rPr lang="en-US" dirty="0">
                <a:latin typeface="Times New Roman" panose="02020603050405020304" pitchFamily="18" charset="0"/>
                <a:cs typeface="Times New Roman" panose="02020603050405020304" pitchFamily="18" charset="0"/>
              </a:rPr>
              <a:t>M. Birger, A. S. </a:t>
            </a:r>
            <a:r>
              <a:rPr lang="en-US" dirty="0" err="1">
                <a:latin typeface="Times New Roman" panose="02020603050405020304" pitchFamily="18" charset="0"/>
                <a:cs typeface="Times New Roman" panose="02020603050405020304" pitchFamily="18" charset="0"/>
              </a:rPr>
              <a:t>Kaldjian</a:t>
            </a:r>
            <a:r>
              <a:rPr lang="en-US" dirty="0">
                <a:latin typeface="Times New Roman" panose="02020603050405020304" pitchFamily="18" charset="0"/>
                <a:cs typeface="Times New Roman" panose="02020603050405020304" pitchFamily="18" charset="0"/>
              </a:rPr>
              <a:t>, G. A. Roth, A. E. Moran, J. L. Dieleman, and B. K. Bellows, “Spending on Cardiovascular Disease and Cardiovascular Risk Factors in the United States: 1996 to 2016,” </a:t>
            </a:r>
            <a:r>
              <a:rPr lang="en-US" i="1" dirty="0">
                <a:latin typeface="Times New Roman" panose="02020603050405020304" pitchFamily="18" charset="0"/>
                <a:cs typeface="Times New Roman" panose="02020603050405020304" pitchFamily="18" charset="0"/>
              </a:rPr>
              <a:t>Circulation</a:t>
            </a:r>
            <a:r>
              <a:rPr lang="en-US" dirty="0">
                <a:latin typeface="Times New Roman" panose="02020603050405020304" pitchFamily="18" charset="0"/>
                <a:cs typeface="Times New Roman" panose="02020603050405020304" pitchFamily="18" charset="0"/>
              </a:rPr>
              <a:t>, vol. 144, no. 4, pp. 271–282, July 2021,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10.1161/CIRCULATIONAHA.120.053216.</a:t>
            </a:r>
          </a:p>
        </p:txBody>
      </p:sp>
    </p:spTree>
    <p:extLst>
      <p:ext uri="{BB962C8B-B14F-4D97-AF65-F5344CB8AC3E}">
        <p14:creationId xmlns:p14="http://schemas.microsoft.com/office/powerpoint/2010/main" val="2932063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1654A-6C2A-D832-2B25-E2B6154866A2}"/>
              </a:ext>
            </a:extLst>
          </p:cNvPr>
          <p:cNvSpPr>
            <a:spLocks noGrp="1"/>
          </p:cNvSpPr>
          <p:nvPr>
            <p:ph type="title"/>
          </p:nvPr>
        </p:nvSpPr>
        <p:spPr/>
        <p:txBody>
          <a:bodyPr/>
          <a:lstStyle/>
          <a:p>
            <a:r>
              <a:rPr lang="en-US" dirty="0"/>
              <a:t>References Cont’d</a:t>
            </a:r>
          </a:p>
        </p:txBody>
      </p:sp>
      <p:sp>
        <p:nvSpPr>
          <p:cNvPr id="3" name="Content Placeholder 2">
            <a:extLst>
              <a:ext uri="{FF2B5EF4-FFF2-40B4-BE49-F238E27FC236}">
                <a16:creationId xmlns:a16="http://schemas.microsoft.com/office/drawing/2014/main" id="{D439C9A1-A990-07BB-9A97-102D8A575321}"/>
              </a:ext>
            </a:extLst>
          </p:cNvPr>
          <p:cNvSpPr>
            <a:spLocks noGrp="1"/>
          </p:cNvSpPr>
          <p:nvPr>
            <p:ph idx="1"/>
          </p:nvPr>
        </p:nvSpPr>
        <p:spPr>
          <a:xfrm>
            <a:off x="521208" y="2170706"/>
            <a:ext cx="11155680" cy="4175230"/>
          </a:xfrm>
        </p:spPr>
        <p:txBody>
          <a:bodyPr>
            <a:normAutofit lnSpcReduction="10000"/>
          </a:bodyPr>
          <a:lstStyle/>
          <a:p>
            <a:r>
              <a:rPr lang="en-US" dirty="0"/>
              <a:t>L. B. Elvas, A. Almeida, and J. C. Ferreira, “The Role of AI in Cardiovascular Event Monitoring and Early Detection: Scoping Literature Review,” </a:t>
            </a:r>
            <a:r>
              <a:rPr lang="en-US" i="1" dirty="0"/>
              <a:t>JMIR Medical Informatics</a:t>
            </a:r>
            <a:r>
              <a:rPr lang="en-US" dirty="0"/>
              <a:t>, vol. 13, no. 1, p. e64349, Mar. 2025, </a:t>
            </a:r>
            <a:r>
              <a:rPr lang="en-US" dirty="0" err="1"/>
              <a:t>doi</a:t>
            </a:r>
            <a:r>
              <a:rPr lang="en-US" dirty="0"/>
              <a:t>: 10.2196/64349.</a:t>
            </a:r>
          </a:p>
          <a:p>
            <a:r>
              <a:rPr lang="en-US" dirty="0"/>
              <a:t>H. G. G, R. J, S. Ganesh, and S. P, “Cardio Rescue Network in AI-Driven Wearable System for Real-Time Cardiac Event Prediction and Management Using 5G-Enabled Edge Computing,” in </a:t>
            </a:r>
            <a:r>
              <a:rPr lang="en-US" i="1" dirty="0"/>
              <a:t>2025 International Conference on Sensors and Related Networks (SENNET) Special Focus on Digital Healthcare(64220)</a:t>
            </a:r>
            <a:r>
              <a:rPr lang="en-US" dirty="0"/>
              <a:t>, Vellore, India: IEEE, July 2025, pp. 1–4. </a:t>
            </a:r>
            <a:r>
              <a:rPr lang="en-US" dirty="0" err="1"/>
              <a:t>doi</a:t>
            </a:r>
            <a:r>
              <a:rPr lang="en-US" dirty="0"/>
              <a:t>: 10.1109/SENNET64220.2025.11135976.</a:t>
            </a:r>
          </a:p>
          <a:p>
            <a:r>
              <a:rPr lang="en-US" dirty="0"/>
              <a:t>B.-O. Bat-Erdene and J. L. Saver, “Automatic Acute Stroke Symptom Detection and Emergency Medical Systems Alerting by Mobile Health Technologies: A Review,” </a:t>
            </a:r>
            <a:r>
              <a:rPr lang="en-US" i="1" dirty="0"/>
              <a:t>Journal of Stroke and Cerebrovascular Diseases</a:t>
            </a:r>
            <a:r>
              <a:rPr lang="en-US" dirty="0"/>
              <a:t>, vol. 30, no. 7, p. 105826, July 2021, </a:t>
            </a:r>
            <a:r>
              <a:rPr lang="en-US" dirty="0" err="1"/>
              <a:t>doi</a:t>
            </a:r>
            <a:r>
              <a:rPr lang="en-US" dirty="0"/>
              <a:t>: 10.1016/j.jstrokecerebrovasdis.2021.105826.</a:t>
            </a:r>
          </a:p>
          <a:p>
            <a:r>
              <a:rPr lang="en-US" dirty="0"/>
              <a:t>A. K, J. David, and K. A, “Cardiovascular Disease Prediction using Patient History and Real Time Monitoring,” in </a:t>
            </a:r>
            <a:r>
              <a:rPr lang="en-US" i="1" dirty="0"/>
              <a:t>2024 2nd International Conference on Intelligent Data Communication Technologies and Internet of Things (</a:t>
            </a:r>
            <a:r>
              <a:rPr lang="en-US" i="1" dirty="0" err="1"/>
              <a:t>IDCIoT</a:t>
            </a:r>
            <a:r>
              <a:rPr lang="en-US" i="1" dirty="0"/>
              <a:t>)</a:t>
            </a:r>
            <a:r>
              <a:rPr lang="en-US" dirty="0"/>
              <a:t>, Bengaluru, India: IEEE, Jan. 2024, pp. 1226–1233. </a:t>
            </a:r>
            <a:r>
              <a:rPr lang="en-US" dirty="0" err="1"/>
              <a:t>doi</a:t>
            </a:r>
            <a:r>
              <a:rPr lang="en-US" dirty="0"/>
              <a:t>: 10.1109/IDCIoT59759.2024.10467488.</a:t>
            </a:r>
          </a:p>
          <a:p>
            <a:endParaRPr lang="en-US" dirty="0"/>
          </a:p>
        </p:txBody>
      </p:sp>
    </p:spTree>
    <p:extLst>
      <p:ext uri="{BB962C8B-B14F-4D97-AF65-F5344CB8AC3E}">
        <p14:creationId xmlns:p14="http://schemas.microsoft.com/office/powerpoint/2010/main" val="1581302883"/>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339</TotalTime>
  <Words>1724</Words>
  <Application>Microsoft Office PowerPoint</Application>
  <PresentationFormat>Widescreen</PresentationFormat>
  <Paragraphs>81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Bierstadt</vt:lpstr>
      <vt:lpstr>Times New Roman</vt:lpstr>
      <vt:lpstr>GestaltVTI</vt:lpstr>
      <vt:lpstr>SAT 5141 AI-Powered System for Early Detection of Cardiovascular Events </vt:lpstr>
      <vt:lpstr>Background of the Study</vt:lpstr>
      <vt:lpstr>Objectives</vt:lpstr>
      <vt:lpstr>Hypothesis</vt:lpstr>
      <vt:lpstr>Literature review</vt:lpstr>
      <vt:lpstr>Literature Review - cont’d</vt:lpstr>
      <vt:lpstr>Justification of Population</vt:lpstr>
      <vt:lpstr>Methodology</vt:lpstr>
      <vt:lpstr>Machine Learning Models</vt:lpstr>
      <vt:lpstr>Train-Test Split Cross Validation</vt:lpstr>
      <vt:lpstr>Results</vt:lpstr>
      <vt:lpstr>Evaluation Metrics</vt:lpstr>
      <vt:lpstr>PowerPoint Presentation</vt:lpstr>
      <vt:lpstr>Best Performing Models: Both Decision Tree and Random Forest models achieved perfect or near-perfect scores (1.0000) across most metrics on the test set, including Accuracy, Precision, Recall, F1-score, and ROC-AUC. XGBoost also performed exceptionally well </vt:lpstr>
      <vt:lpstr>PowerPoint Presentation</vt:lpstr>
      <vt:lpstr>Overfitting Analysis</vt:lpstr>
      <vt:lpstr>Correlation Heatmap:  The correlation heatmap visualizes the pairwise correlations between the features in the dataset. Each cell in the heatmap represents the correlation coefficient between two features.                                  </vt:lpstr>
      <vt:lpstr>PowerPoint Presentation</vt:lpstr>
      <vt:lpstr>Conclusion</vt:lpstr>
      <vt:lpstr>Significance and Impact</vt:lpstr>
      <vt:lpstr>References</vt:lpstr>
      <vt:lpstr>References Cont’d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Gideon Owusu</dc:creator>
  <cp:lastModifiedBy>Gideon Owusu</cp:lastModifiedBy>
  <cp:revision>1</cp:revision>
  <dcterms:created xsi:type="dcterms:W3CDTF">2025-12-02T17:07:09Z</dcterms:created>
  <dcterms:modified xsi:type="dcterms:W3CDTF">2025-12-05T02:49:34Z</dcterms:modified>
</cp:coreProperties>
</file>